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risnik\Downloads\BI_Football_Analysis_Workfile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risnik\Downloads\BI_Football_Analysis_Workfile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risnik\Downloads\BI_Football_Analysis_Workfile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[BI_Football_Analysis_Workfile_1.xlsx]Win average per team!PivotTable1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'Win average per team'!$B$3:$B$4</c:f>
              <c:strCache>
                <c:ptCount val="1"/>
                <c:pt idx="0">
                  <c:v>2021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'Win average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'Win average per team'!$B$5:$B$32</c:f>
              <c:numCache>
                <c:formatCode>0.00%</c:formatCode>
                <c:ptCount val="27"/>
                <c:pt idx="0">
                  <c:v>0.47368421052631576</c:v>
                </c:pt>
                <c:pt idx="1">
                  <c:v>0.42105263157894735</c:v>
                </c:pt>
                <c:pt idx="4">
                  <c:v>0.23684210526315788</c:v>
                </c:pt>
                <c:pt idx="5">
                  <c:v>0.26315789473684209</c:v>
                </c:pt>
                <c:pt idx="6">
                  <c:v>0.5</c:v>
                </c:pt>
                <c:pt idx="7">
                  <c:v>0.31578947368421051</c:v>
                </c:pt>
                <c:pt idx="8">
                  <c:v>0.44736842105263158</c:v>
                </c:pt>
                <c:pt idx="9">
                  <c:v>0.13157894736842105</c:v>
                </c:pt>
                <c:pt idx="11">
                  <c:v>0.47368421052631576</c:v>
                </c:pt>
                <c:pt idx="12">
                  <c:v>0.52631578947368418</c:v>
                </c:pt>
                <c:pt idx="13">
                  <c:v>0.52631578947368418</c:v>
                </c:pt>
                <c:pt idx="15">
                  <c:v>0.71052631578947367</c:v>
                </c:pt>
                <c:pt idx="16">
                  <c:v>0.55263157894736847</c:v>
                </c:pt>
                <c:pt idx="17">
                  <c:v>0.31578947368421051</c:v>
                </c:pt>
                <c:pt idx="20">
                  <c:v>0.18421052631578946</c:v>
                </c:pt>
                <c:pt idx="21">
                  <c:v>0.31578947368421051</c:v>
                </c:pt>
                <c:pt idx="22">
                  <c:v>0.47368421052631576</c:v>
                </c:pt>
                <c:pt idx="24">
                  <c:v>0.13157894736842105</c:v>
                </c:pt>
                <c:pt idx="25">
                  <c:v>0.5</c:v>
                </c:pt>
                <c:pt idx="26">
                  <c:v>0.31578947368421051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A2-44E0-B446-EAEA35B7BDED}"/>
            </c:ext>
          </c:extLst>
        </c:ser>
        <c:ser>
          <c:idx val="1"/>
          <c:order val="1"/>
          <c:tx>
            <c:strRef>
              <c:f>'Win average per team'!$C$3:$C$4</c:f>
              <c:strCache>
                <c:ptCount val="1"/>
                <c:pt idx="0">
                  <c:v>2022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'Win average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'Win average per team'!$C$5:$C$32</c:f>
              <c:numCache>
                <c:formatCode>0.00%</c:formatCode>
                <c:ptCount val="27"/>
                <c:pt idx="0">
                  <c:v>0.57894736842105265</c:v>
                </c:pt>
                <c:pt idx="1">
                  <c:v>0.34210526315789475</c:v>
                </c:pt>
                <c:pt idx="3">
                  <c:v>0.34210526315789475</c:v>
                </c:pt>
                <c:pt idx="4">
                  <c:v>0.31578947368421051</c:v>
                </c:pt>
                <c:pt idx="5">
                  <c:v>0.18421052631578946</c:v>
                </c:pt>
                <c:pt idx="6">
                  <c:v>0.55263157894736847</c:v>
                </c:pt>
                <c:pt idx="7">
                  <c:v>0.28947368421052633</c:v>
                </c:pt>
                <c:pt idx="8">
                  <c:v>0.28947368421052633</c:v>
                </c:pt>
                <c:pt idx="11">
                  <c:v>0.23684210526315788</c:v>
                </c:pt>
                <c:pt idx="12">
                  <c:v>0.36842105263157893</c:v>
                </c:pt>
                <c:pt idx="13">
                  <c:v>0.73684210526315785</c:v>
                </c:pt>
                <c:pt idx="15">
                  <c:v>0.76315789473684215</c:v>
                </c:pt>
                <c:pt idx="16">
                  <c:v>0.42105263157894735</c:v>
                </c:pt>
                <c:pt idx="17">
                  <c:v>0.34210526315789475</c:v>
                </c:pt>
                <c:pt idx="18">
                  <c:v>0.13157894736842105</c:v>
                </c:pt>
                <c:pt idx="21">
                  <c:v>0.23684210526315788</c:v>
                </c:pt>
                <c:pt idx="22">
                  <c:v>0.57894736842105265</c:v>
                </c:pt>
                <c:pt idx="23">
                  <c:v>0.15789473684210525</c:v>
                </c:pt>
                <c:pt idx="25">
                  <c:v>0.42105263157894735</c:v>
                </c:pt>
                <c:pt idx="26">
                  <c:v>0.39473684210526316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A2-44E0-B446-EAEA35B7BDED}"/>
            </c:ext>
          </c:extLst>
        </c:ser>
        <c:ser>
          <c:idx val="2"/>
          <c:order val="2"/>
          <c:tx>
            <c:strRef>
              <c:f>'Win average per team'!$D$3:$D$4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'Win average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'Win average per team'!$D$5:$D$32</c:f>
              <c:numCache>
                <c:formatCode>0.00%</c:formatCode>
                <c:ptCount val="27"/>
                <c:pt idx="0">
                  <c:v>0.68421052631578949</c:v>
                </c:pt>
                <c:pt idx="1">
                  <c:v>0.47368421052631576</c:v>
                </c:pt>
                <c:pt idx="2">
                  <c:v>0.28947368421052633</c:v>
                </c:pt>
                <c:pt idx="3">
                  <c:v>0.39473684210526316</c:v>
                </c:pt>
                <c:pt idx="4">
                  <c:v>0.47368421052631576</c:v>
                </c:pt>
                <c:pt idx="6">
                  <c:v>0.28947368421052633</c:v>
                </c:pt>
                <c:pt idx="7">
                  <c:v>0.28947368421052633</c:v>
                </c:pt>
                <c:pt idx="8">
                  <c:v>0.21052631578947367</c:v>
                </c:pt>
                <c:pt idx="9">
                  <c:v>0.39473684210526316</c:v>
                </c:pt>
                <c:pt idx="11">
                  <c:v>0.18421052631578946</c:v>
                </c:pt>
                <c:pt idx="12">
                  <c:v>0.23684210526315788</c:v>
                </c:pt>
                <c:pt idx="13">
                  <c:v>0.5</c:v>
                </c:pt>
                <c:pt idx="15">
                  <c:v>0.73684210526315785</c:v>
                </c:pt>
                <c:pt idx="16">
                  <c:v>0.60526315789473684</c:v>
                </c:pt>
                <c:pt idx="17">
                  <c:v>0.5</c:v>
                </c:pt>
                <c:pt idx="19">
                  <c:v>0.23684210526315788</c:v>
                </c:pt>
                <c:pt idx="21">
                  <c:v>0.15789473684210525</c:v>
                </c:pt>
                <c:pt idx="22">
                  <c:v>0.47368421052631576</c:v>
                </c:pt>
                <c:pt idx="25">
                  <c:v>0.28947368421052633</c:v>
                </c:pt>
                <c:pt idx="26">
                  <c:v>0.28947368421052633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A2-44E0-B446-EAEA35B7BDED}"/>
            </c:ext>
          </c:extLst>
        </c:ser>
        <c:ser>
          <c:idx val="3"/>
          <c:order val="3"/>
          <c:tx>
            <c:strRef>
              <c:f>'Win average per team'!$E$3:$E$4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'Win average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'Win average per team'!$E$5:$E$32</c:f>
              <c:numCache>
                <c:formatCode>0.00%</c:formatCode>
                <c:ptCount val="27"/>
                <c:pt idx="0">
                  <c:v>0.73684210526315785</c:v>
                </c:pt>
                <c:pt idx="1">
                  <c:v>0.52631578947368418</c:v>
                </c:pt>
                <c:pt idx="2">
                  <c:v>0.34210526315789475</c:v>
                </c:pt>
                <c:pt idx="3">
                  <c:v>0.26315789473684209</c:v>
                </c:pt>
                <c:pt idx="4">
                  <c:v>0.31578947368421051</c:v>
                </c:pt>
                <c:pt idx="5">
                  <c:v>0.13157894736842105</c:v>
                </c:pt>
                <c:pt idx="6">
                  <c:v>0.47368421052631576</c:v>
                </c:pt>
                <c:pt idx="7">
                  <c:v>0.34210526315789475</c:v>
                </c:pt>
                <c:pt idx="8">
                  <c:v>0.34210526315789475</c:v>
                </c:pt>
                <c:pt idx="9">
                  <c:v>0.34210526315789475</c:v>
                </c:pt>
                <c:pt idx="13">
                  <c:v>0.63157894736842102</c:v>
                </c:pt>
                <c:pt idx="14">
                  <c:v>0.15789473684210525</c:v>
                </c:pt>
                <c:pt idx="15">
                  <c:v>0.73684210526315785</c:v>
                </c:pt>
                <c:pt idx="16">
                  <c:v>0.47368421052631576</c:v>
                </c:pt>
                <c:pt idx="17">
                  <c:v>0.47368421052631576</c:v>
                </c:pt>
                <c:pt idx="19">
                  <c:v>0.23684210526315788</c:v>
                </c:pt>
                <c:pt idx="20">
                  <c:v>7.8947368421052627E-2</c:v>
                </c:pt>
                <c:pt idx="22">
                  <c:v>0.52631578947368418</c:v>
                </c:pt>
                <c:pt idx="25">
                  <c:v>0.36842105263157893</c:v>
                </c:pt>
                <c:pt idx="26">
                  <c:v>0.34210526315789475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7A2-44E0-B446-EAEA35B7BDED}"/>
            </c:ext>
          </c:extLst>
        </c:ser>
        <c:ser>
          <c:idx val="4"/>
          <c:order val="4"/>
          <c:tx>
            <c:strRef>
              <c:f>'Win average per team'!$F$3:$F$4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'Win average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'Win average per team'!$F$5:$F$32</c:f>
              <c:numCache>
                <c:formatCode>0.00%</c:formatCode>
                <c:ptCount val="27"/>
                <c:pt idx="0">
                  <c:v>0.52631578947368418</c:v>
                </c:pt>
                <c:pt idx="1">
                  <c:v>0.5</c:v>
                </c:pt>
                <c:pt idx="2">
                  <c:v>0.39473684210526316</c:v>
                </c:pt>
                <c:pt idx="3">
                  <c:v>0.42105263157894735</c:v>
                </c:pt>
                <c:pt idx="4">
                  <c:v>0.42105263157894735</c:v>
                </c:pt>
                <c:pt idx="6">
                  <c:v>0.52631578947368418</c:v>
                </c:pt>
                <c:pt idx="7">
                  <c:v>0.34210526315789475</c:v>
                </c:pt>
                <c:pt idx="8">
                  <c:v>0.28947368421052633</c:v>
                </c:pt>
                <c:pt idx="9">
                  <c:v>0.39473684210526316</c:v>
                </c:pt>
                <c:pt idx="10">
                  <c:v>0.10526315789473684</c:v>
                </c:pt>
                <c:pt idx="12">
                  <c:v>0.15789473684210525</c:v>
                </c:pt>
                <c:pt idx="13">
                  <c:v>0.65789473684210531</c:v>
                </c:pt>
                <c:pt idx="15">
                  <c:v>0.55263157894736847</c:v>
                </c:pt>
                <c:pt idx="16">
                  <c:v>0.28947368421052633</c:v>
                </c:pt>
                <c:pt idx="17">
                  <c:v>0.52631578947368418</c:v>
                </c:pt>
                <c:pt idx="19">
                  <c:v>0.5</c:v>
                </c:pt>
                <c:pt idx="21">
                  <c:v>5.2631578947368418E-2</c:v>
                </c:pt>
                <c:pt idx="22">
                  <c:v>0.28947368421052633</c:v>
                </c:pt>
                <c:pt idx="25">
                  <c:v>0.28947368421052633</c:v>
                </c:pt>
                <c:pt idx="26">
                  <c:v>0.31578947368421051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7A2-44E0-B446-EAEA35B7B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1403471"/>
        <c:axId val="1131404911"/>
      </c:lineChart>
      <c:catAx>
        <c:axId val="1131403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404911"/>
        <c:crosses val="autoZero"/>
        <c:auto val="1"/>
        <c:lblAlgn val="ctr"/>
        <c:lblOffset val="100"/>
        <c:noMultiLvlLbl val="0"/>
      </c:catAx>
      <c:valAx>
        <c:axId val="1131404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403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[BI_Football_Analysis_Workfile_1.xlsx]Average goals per team!PivotTable2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'Average goals per team'!$B$3:$B$4</c:f>
              <c:strCache>
                <c:ptCount val="1"/>
                <c:pt idx="0">
                  <c:v>2021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'Average goals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'Average goals per team'!$B$5:$B$32</c:f>
              <c:numCache>
                <c:formatCode>0.00</c:formatCode>
                <c:ptCount val="27"/>
                <c:pt idx="0">
                  <c:v>1.4473684210526316</c:v>
                </c:pt>
                <c:pt idx="1">
                  <c:v>1.4473684210526316</c:v>
                </c:pt>
                <c:pt idx="4">
                  <c:v>1.0526315789473684</c:v>
                </c:pt>
                <c:pt idx="5">
                  <c:v>0.86842105263157898</c:v>
                </c:pt>
                <c:pt idx="6">
                  <c:v>1.5263157894736843</c:v>
                </c:pt>
                <c:pt idx="7">
                  <c:v>1.0789473684210527</c:v>
                </c:pt>
                <c:pt idx="8">
                  <c:v>1.236842105263158</c:v>
                </c:pt>
                <c:pt idx="9">
                  <c:v>0.71052631578947367</c:v>
                </c:pt>
                <c:pt idx="11">
                  <c:v>1.631578947368421</c:v>
                </c:pt>
                <c:pt idx="12">
                  <c:v>1.7894736842105263</c:v>
                </c:pt>
                <c:pt idx="13">
                  <c:v>1.7894736842105263</c:v>
                </c:pt>
                <c:pt idx="15">
                  <c:v>2.1842105263157894</c:v>
                </c:pt>
                <c:pt idx="16">
                  <c:v>1.9210526315789473</c:v>
                </c:pt>
                <c:pt idx="17">
                  <c:v>1.2105263157894737</c:v>
                </c:pt>
                <c:pt idx="20">
                  <c:v>0.52631578947368418</c:v>
                </c:pt>
                <c:pt idx="21">
                  <c:v>1.236842105263158</c:v>
                </c:pt>
                <c:pt idx="22">
                  <c:v>1.7894736842105263</c:v>
                </c:pt>
                <c:pt idx="24">
                  <c:v>0.92105263157894735</c:v>
                </c:pt>
                <c:pt idx="25">
                  <c:v>1.631578947368421</c:v>
                </c:pt>
                <c:pt idx="26">
                  <c:v>0.94736842105263153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1D-43E5-A461-B667BF129C73}"/>
            </c:ext>
          </c:extLst>
        </c:ser>
        <c:ser>
          <c:idx val="1"/>
          <c:order val="1"/>
          <c:tx>
            <c:strRef>
              <c:f>'Average goals per team'!$C$3:$C$4</c:f>
              <c:strCache>
                <c:ptCount val="1"/>
                <c:pt idx="0">
                  <c:v>2022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'Average goals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'Average goals per team'!$C$5:$C$32</c:f>
              <c:numCache>
                <c:formatCode>0.00</c:formatCode>
                <c:ptCount val="27"/>
                <c:pt idx="0">
                  <c:v>1.6052631578947369</c:v>
                </c:pt>
                <c:pt idx="1">
                  <c:v>1.368421052631579</c:v>
                </c:pt>
                <c:pt idx="3">
                  <c:v>1.263157894736842</c:v>
                </c:pt>
                <c:pt idx="4">
                  <c:v>1.1052631578947369</c:v>
                </c:pt>
                <c:pt idx="5">
                  <c:v>0.89473684210526316</c:v>
                </c:pt>
                <c:pt idx="6">
                  <c:v>2</c:v>
                </c:pt>
                <c:pt idx="7">
                  <c:v>1.3157894736842106</c:v>
                </c:pt>
                <c:pt idx="8">
                  <c:v>1.131578947368421</c:v>
                </c:pt>
                <c:pt idx="11">
                  <c:v>1.1052631578947369</c:v>
                </c:pt>
                <c:pt idx="12">
                  <c:v>1.631578947368421</c:v>
                </c:pt>
                <c:pt idx="13">
                  <c:v>2.4736842105263159</c:v>
                </c:pt>
                <c:pt idx="15">
                  <c:v>2.6052631578947367</c:v>
                </c:pt>
                <c:pt idx="16">
                  <c:v>1.5</c:v>
                </c:pt>
                <c:pt idx="17">
                  <c:v>1.1578947368421053</c:v>
                </c:pt>
                <c:pt idx="18">
                  <c:v>0.60526315789473684</c:v>
                </c:pt>
                <c:pt idx="21">
                  <c:v>1.131578947368421</c:v>
                </c:pt>
                <c:pt idx="22">
                  <c:v>1.8157894736842106</c:v>
                </c:pt>
                <c:pt idx="23">
                  <c:v>0.89473684210526316</c:v>
                </c:pt>
                <c:pt idx="25">
                  <c:v>1.5789473684210527</c:v>
                </c:pt>
                <c:pt idx="2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1D-43E5-A461-B667BF129C73}"/>
            </c:ext>
          </c:extLst>
        </c:ser>
        <c:ser>
          <c:idx val="2"/>
          <c:order val="2"/>
          <c:tx>
            <c:strRef>
              <c:f>'Average goals per team'!$D$3:$D$4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'Average goals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'Average goals per team'!$D$5:$D$32</c:f>
              <c:numCache>
                <c:formatCode>0.00</c:formatCode>
                <c:ptCount val="27"/>
                <c:pt idx="0">
                  <c:v>2.3157894736842106</c:v>
                </c:pt>
                <c:pt idx="1">
                  <c:v>1.3421052631578947</c:v>
                </c:pt>
                <c:pt idx="2">
                  <c:v>0.97368421052631582</c:v>
                </c:pt>
                <c:pt idx="3">
                  <c:v>1.5263157894736843</c:v>
                </c:pt>
                <c:pt idx="4">
                  <c:v>1.8947368421052631</c:v>
                </c:pt>
                <c:pt idx="6">
                  <c:v>1</c:v>
                </c:pt>
                <c:pt idx="7">
                  <c:v>1.0526315789473684</c:v>
                </c:pt>
                <c:pt idx="8">
                  <c:v>0.89473684210526316</c:v>
                </c:pt>
                <c:pt idx="9">
                  <c:v>1.4473684210526316</c:v>
                </c:pt>
                <c:pt idx="11">
                  <c:v>1.263157894736842</c:v>
                </c:pt>
                <c:pt idx="12">
                  <c:v>1.3421052631578947</c:v>
                </c:pt>
                <c:pt idx="13">
                  <c:v>1.9736842105263157</c:v>
                </c:pt>
                <c:pt idx="15">
                  <c:v>2.4736842105263159</c:v>
                </c:pt>
                <c:pt idx="16">
                  <c:v>1.5263157894736843</c:v>
                </c:pt>
                <c:pt idx="17">
                  <c:v>1.7894736842105263</c:v>
                </c:pt>
                <c:pt idx="19">
                  <c:v>1</c:v>
                </c:pt>
                <c:pt idx="21">
                  <c:v>0.94736842105263153</c:v>
                </c:pt>
                <c:pt idx="22">
                  <c:v>1.8421052631578947</c:v>
                </c:pt>
                <c:pt idx="25">
                  <c:v>1.1052631578947369</c:v>
                </c:pt>
                <c:pt idx="26">
                  <c:v>0.81578947368421051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1D-43E5-A461-B667BF129C73}"/>
            </c:ext>
          </c:extLst>
        </c:ser>
        <c:ser>
          <c:idx val="3"/>
          <c:order val="3"/>
          <c:tx>
            <c:strRef>
              <c:f>'Average goals per team'!$E$3:$E$4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'Average goals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'Average goals per team'!$E$5:$E$32</c:f>
              <c:numCache>
                <c:formatCode>0.00</c:formatCode>
                <c:ptCount val="27"/>
                <c:pt idx="0">
                  <c:v>2.3947368421052633</c:v>
                </c:pt>
                <c:pt idx="1">
                  <c:v>2</c:v>
                </c:pt>
                <c:pt idx="2">
                  <c:v>1.4210526315789473</c:v>
                </c:pt>
                <c:pt idx="3">
                  <c:v>1.4736842105263157</c:v>
                </c:pt>
                <c:pt idx="4">
                  <c:v>1.4473684210526316</c:v>
                </c:pt>
                <c:pt idx="5">
                  <c:v>1.0789473684210527</c:v>
                </c:pt>
                <c:pt idx="6">
                  <c:v>2.0263157894736841</c:v>
                </c:pt>
                <c:pt idx="7">
                  <c:v>1.5</c:v>
                </c:pt>
                <c:pt idx="8">
                  <c:v>1.0526315789473684</c:v>
                </c:pt>
                <c:pt idx="9">
                  <c:v>1.4473684210526316</c:v>
                </c:pt>
                <c:pt idx="13">
                  <c:v>2.263157894736842</c:v>
                </c:pt>
                <c:pt idx="14">
                  <c:v>1.368421052631579</c:v>
                </c:pt>
                <c:pt idx="15">
                  <c:v>2.5263157894736841</c:v>
                </c:pt>
                <c:pt idx="16">
                  <c:v>1.5</c:v>
                </c:pt>
                <c:pt idx="17">
                  <c:v>2.236842105263158</c:v>
                </c:pt>
                <c:pt idx="19">
                  <c:v>1.2894736842105263</c:v>
                </c:pt>
                <c:pt idx="20">
                  <c:v>0.92105263157894735</c:v>
                </c:pt>
                <c:pt idx="22">
                  <c:v>1.9473684210526316</c:v>
                </c:pt>
                <c:pt idx="25">
                  <c:v>1.5789473684210527</c:v>
                </c:pt>
                <c:pt idx="26">
                  <c:v>1.3157894736842106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1D-43E5-A461-B667BF129C73}"/>
            </c:ext>
          </c:extLst>
        </c:ser>
        <c:ser>
          <c:idx val="4"/>
          <c:order val="4"/>
          <c:tx>
            <c:strRef>
              <c:f>'Average goals per team'!$F$3:$F$4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'Average goals per team'!$A$5:$A$32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'Average goals per team'!$F$5:$F$32</c:f>
              <c:numCache>
                <c:formatCode>0.00</c:formatCode>
                <c:ptCount val="27"/>
                <c:pt idx="0">
                  <c:v>1.8157894736842106</c:v>
                </c:pt>
                <c:pt idx="1">
                  <c:v>1.5263157894736843</c:v>
                </c:pt>
                <c:pt idx="2">
                  <c:v>1.5263157894736843</c:v>
                </c:pt>
                <c:pt idx="3">
                  <c:v>1.736842105263158</c:v>
                </c:pt>
                <c:pt idx="4">
                  <c:v>1.736842105263158</c:v>
                </c:pt>
                <c:pt idx="6">
                  <c:v>1.6842105263157894</c:v>
                </c:pt>
                <c:pt idx="7">
                  <c:v>1.3421052631578947</c:v>
                </c:pt>
                <c:pt idx="8">
                  <c:v>1.1052631578947369</c:v>
                </c:pt>
                <c:pt idx="9">
                  <c:v>1.4210526315789473</c:v>
                </c:pt>
                <c:pt idx="10">
                  <c:v>0.94736842105263153</c:v>
                </c:pt>
                <c:pt idx="12">
                  <c:v>0.86842105263157898</c:v>
                </c:pt>
                <c:pt idx="13">
                  <c:v>2.263157894736842</c:v>
                </c:pt>
                <c:pt idx="15">
                  <c:v>1.8947368421052631</c:v>
                </c:pt>
                <c:pt idx="16">
                  <c:v>1.1578947368421053</c:v>
                </c:pt>
                <c:pt idx="17">
                  <c:v>1.7894736842105263</c:v>
                </c:pt>
                <c:pt idx="19">
                  <c:v>1.5263157894736843</c:v>
                </c:pt>
                <c:pt idx="21">
                  <c:v>0.68421052631578949</c:v>
                </c:pt>
                <c:pt idx="22">
                  <c:v>1.6842105263157894</c:v>
                </c:pt>
                <c:pt idx="25">
                  <c:v>1.2105263157894737</c:v>
                </c:pt>
                <c:pt idx="26">
                  <c:v>1.4210526315789473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71D-43E5-A461-B667BF129C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2885423"/>
        <c:axId val="862884943"/>
      </c:lineChart>
      <c:catAx>
        <c:axId val="862885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884943"/>
        <c:crosses val="autoZero"/>
        <c:auto val="1"/>
        <c:lblAlgn val="ctr"/>
        <c:lblOffset val="100"/>
        <c:noMultiLvlLbl val="0"/>
      </c:catAx>
      <c:valAx>
        <c:axId val="862884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885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[BI_Football_Analysis_Workfile_1.xlsx]Goals forxg difference per team!PivotTable1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'Goals forxg difference per team'!$B$3</c:f>
              <c:strCache>
                <c:ptCount val="1"/>
                <c:pt idx="0">
                  <c:v>Sum of goals_for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'Goals forxg difference per team'!$A$4:$A$31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'Goals forxg difference per team'!$B$4:$B$31</c:f>
              <c:numCache>
                <c:formatCode>General</c:formatCode>
                <c:ptCount val="27"/>
                <c:pt idx="0">
                  <c:v>364</c:v>
                </c:pt>
                <c:pt idx="1">
                  <c:v>292</c:v>
                </c:pt>
                <c:pt idx="2">
                  <c:v>149</c:v>
                </c:pt>
                <c:pt idx="3">
                  <c:v>228</c:v>
                </c:pt>
                <c:pt idx="4">
                  <c:v>275</c:v>
                </c:pt>
                <c:pt idx="5">
                  <c:v>108</c:v>
                </c:pt>
                <c:pt idx="6">
                  <c:v>313</c:v>
                </c:pt>
                <c:pt idx="7">
                  <c:v>239</c:v>
                </c:pt>
                <c:pt idx="8">
                  <c:v>206</c:v>
                </c:pt>
                <c:pt idx="9">
                  <c:v>191</c:v>
                </c:pt>
                <c:pt idx="10">
                  <c:v>36</c:v>
                </c:pt>
                <c:pt idx="11">
                  <c:v>152</c:v>
                </c:pt>
                <c:pt idx="12">
                  <c:v>214</c:v>
                </c:pt>
                <c:pt idx="13">
                  <c:v>409</c:v>
                </c:pt>
                <c:pt idx="14">
                  <c:v>52</c:v>
                </c:pt>
                <c:pt idx="15">
                  <c:v>444</c:v>
                </c:pt>
                <c:pt idx="16">
                  <c:v>289</c:v>
                </c:pt>
                <c:pt idx="17">
                  <c:v>311</c:v>
                </c:pt>
                <c:pt idx="18">
                  <c:v>23</c:v>
                </c:pt>
                <c:pt idx="19">
                  <c:v>145</c:v>
                </c:pt>
                <c:pt idx="20">
                  <c:v>55</c:v>
                </c:pt>
                <c:pt idx="21">
                  <c:v>152</c:v>
                </c:pt>
                <c:pt idx="22">
                  <c:v>345</c:v>
                </c:pt>
                <c:pt idx="23">
                  <c:v>34</c:v>
                </c:pt>
                <c:pt idx="24">
                  <c:v>35</c:v>
                </c:pt>
                <c:pt idx="25">
                  <c:v>270</c:v>
                </c:pt>
                <c:pt idx="26">
                  <c:v>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45-46CB-B6A7-7930F2506386}"/>
            </c:ext>
          </c:extLst>
        </c:ser>
        <c:ser>
          <c:idx val="1"/>
          <c:order val="1"/>
          <c:tx>
            <c:strRef>
              <c:f>'Goals forxg difference per team'!$C$3</c:f>
              <c:strCache>
                <c:ptCount val="1"/>
                <c:pt idx="0">
                  <c:v>Sum of xg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'Goals forxg difference per team'!$A$4:$A$31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'Goals forxg difference per team'!$C$4:$C$31</c:f>
              <c:numCache>
                <c:formatCode>General</c:formatCode>
                <c:ptCount val="27"/>
                <c:pt idx="0">
                  <c:v>319.89999999999992</c:v>
                </c:pt>
                <c:pt idx="1">
                  <c:v>266.3</c:v>
                </c:pt>
                <c:pt idx="2">
                  <c:v>157.99999999999994</c:v>
                </c:pt>
                <c:pt idx="3">
                  <c:v>219.49999999999994</c:v>
                </c:pt>
                <c:pt idx="4">
                  <c:v>285.59999999999985</c:v>
                </c:pt>
                <c:pt idx="5">
                  <c:v>119.89999999999995</c:v>
                </c:pt>
                <c:pt idx="6">
                  <c:v>317.50000000000011</c:v>
                </c:pt>
                <c:pt idx="7">
                  <c:v>228.7</c:v>
                </c:pt>
                <c:pt idx="8">
                  <c:v>227.80000000000004</c:v>
                </c:pt>
                <c:pt idx="9">
                  <c:v>186.89999999999992</c:v>
                </c:pt>
                <c:pt idx="10">
                  <c:v>34.300000000000004</c:v>
                </c:pt>
                <c:pt idx="11">
                  <c:v>146.9</c:v>
                </c:pt>
                <c:pt idx="12">
                  <c:v>187.40000000000006</c:v>
                </c:pt>
                <c:pt idx="13">
                  <c:v>397.8</c:v>
                </c:pt>
                <c:pt idx="14">
                  <c:v>42.3</c:v>
                </c:pt>
                <c:pt idx="15">
                  <c:v>384.00000000000011</c:v>
                </c:pt>
                <c:pt idx="16">
                  <c:v>292.10000000000008</c:v>
                </c:pt>
                <c:pt idx="17">
                  <c:v>293.79999999999995</c:v>
                </c:pt>
                <c:pt idx="18">
                  <c:v>32.400000000000006</c:v>
                </c:pt>
                <c:pt idx="19">
                  <c:v>134.70000000000002</c:v>
                </c:pt>
                <c:pt idx="20">
                  <c:v>71.599999999999994</c:v>
                </c:pt>
                <c:pt idx="21">
                  <c:v>156.30000000000001</c:v>
                </c:pt>
                <c:pt idx="22">
                  <c:v>298.39999999999998</c:v>
                </c:pt>
                <c:pt idx="23">
                  <c:v>39.900000000000006</c:v>
                </c:pt>
                <c:pt idx="24">
                  <c:v>36.000000000000007</c:v>
                </c:pt>
                <c:pt idx="25">
                  <c:v>255.50000000000003</c:v>
                </c:pt>
                <c:pt idx="26">
                  <c:v>201.70000000000007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45-46CB-B6A7-7930F2506386}"/>
            </c:ext>
          </c:extLst>
        </c:ser>
        <c:ser>
          <c:idx val="2"/>
          <c:order val="2"/>
          <c:tx>
            <c:strRef>
              <c:f>'Goals forxg difference per team'!$D$3</c:f>
              <c:strCache>
                <c:ptCount val="1"/>
                <c:pt idx="0">
                  <c:v>Sum of Overperformance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'Goals forxg difference per team'!$A$4:$A$31</c:f>
              <c:strCache>
                <c:ptCount val="27"/>
                <c:pt idx="0">
                  <c:v>Arsenal</c:v>
                </c:pt>
                <c:pt idx="1">
                  <c:v>Aston Villa</c:v>
                </c:pt>
                <c:pt idx="2">
                  <c:v>Bournemouth</c:v>
                </c:pt>
                <c:pt idx="3">
                  <c:v>Brentford</c:v>
                </c:pt>
                <c:pt idx="4">
                  <c:v>Brighton And Hove Albion</c:v>
                </c:pt>
                <c:pt idx="5">
                  <c:v>Burnley</c:v>
                </c:pt>
                <c:pt idx="6">
                  <c:v>Chelsea</c:v>
                </c:pt>
                <c:pt idx="7">
                  <c:v>Crystal Palace</c:v>
                </c:pt>
                <c:pt idx="8">
                  <c:v>Everton</c:v>
                </c:pt>
                <c:pt idx="9">
                  <c:v>Fulham</c:v>
                </c:pt>
                <c:pt idx="10">
                  <c:v>Ipswich Town</c:v>
                </c:pt>
                <c:pt idx="11">
                  <c:v>Leeds United</c:v>
                </c:pt>
                <c:pt idx="12">
                  <c:v>Leicester City</c:v>
                </c:pt>
                <c:pt idx="13">
                  <c:v>Liverpool</c:v>
                </c:pt>
                <c:pt idx="14">
                  <c:v>Luton Town</c:v>
                </c:pt>
                <c:pt idx="15">
                  <c:v>Manchester City</c:v>
                </c:pt>
                <c:pt idx="16">
                  <c:v>Manchester United</c:v>
                </c:pt>
                <c:pt idx="17">
                  <c:v>Newcastle United</c:v>
                </c:pt>
                <c:pt idx="18">
                  <c:v>Norwich City</c:v>
                </c:pt>
                <c:pt idx="19">
                  <c:v>Nottingham Forest</c:v>
                </c:pt>
                <c:pt idx="20">
                  <c:v>Sheffield United</c:v>
                </c:pt>
                <c:pt idx="21">
                  <c:v>Southampton</c:v>
                </c:pt>
                <c:pt idx="22">
                  <c:v>Tottenham Hotspur</c:v>
                </c:pt>
                <c:pt idx="23">
                  <c:v>Watford</c:v>
                </c:pt>
                <c:pt idx="24">
                  <c:v>West Bromwich Albion</c:v>
                </c:pt>
                <c:pt idx="25">
                  <c:v>West Ham United</c:v>
                </c:pt>
                <c:pt idx="26">
                  <c:v>Wolverhampton Wanderers</c:v>
                </c:pt>
              </c:strCache>
            </c:strRef>
          </c:cat>
          <c:val>
            <c:numRef>
              <c:f>'Goals forxg difference per team'!$D$4:$D$31</c:f>
              <c:numCache>
                <c:formatCode>General</c:formatCode>
                <c:ptCount val="27"/>
                <c:pt idx="0">
                  <c:v>44.10000000000008</c:v>
                </c:pt>
                <c:pt idx="1">
                  <c:v>25.699999999999989</c:v>
                </c:pt>
                <c:pt idx="2">
                  <c:v>-8.9999999999999432</c:v>
                </c:pt>
                <c:pt idx="3">
                  <c:v>8.5000000000000568</c:v>
                </c:pt>
                <c:pt idx="4">
                  <c:v>-10.599999999999852</c:v>
                </c:pt>
                <c:pt idx="5">
                  <c:v>-11.899999999999949</c:v>
                </c:pt>
                <c:pt idx="6">
                  <c:v>-4.5000000000001137</c:v>
                </c:pt>
                <c:pt idx="7">
                  <c:v>10.300000000000011</c:v>
                </c:pt>
                <c:pt idx="8">
                  <c:v>-21.80000000000004</c:v>
                </c:pt>
                <c:pt idx="9">
                  <c:v>4.1000000000000796</c:v>
                </c:pt>
                <c:pt idx="10">
                  <c:v>1.6999999999999957</c:v>
                </c:pt>
                <c:pt idx="11">
                  <c:v>5.0999999999999943</c:v>
                </c:pt>
                <c:pt idx="12">
                  <c:v>26.599999999999937</c:v>
                </c:pt>
                <c:pt idx="13">
                  <c:v>11.199999999999989</c:v>
                </c:pt>
                <c:pt idx="14">
                  <c:v>9.7000000000000028</c:v>
                </c:pt>
                <c:pt idx="15">
                  <c:v>59.999999999999886</c:v>
                </c:pt>
                <c:pt idx="16">
                  <c:v>-3.1000000000000796</c:v>
                </c:pt>
                <c:pt idx="17">
                  <c:v>17.200000000000045</c:v>
                </c:pt>
                <c:pt idx="18">
                  <c:v>-9.4000000000000057</c:v>
                </c:pt>
                <c:pt idx="19">
                  <c:v>10.299999999999983</c:v>
                </c:pt>
                <c:pt idx="20">
                  <c:v>-16.599999999999994</c:v>
                </c:pt>
                <c:pt idx="21">
                  <c:v>-4.3000000000000114</c:v>
                </c:pt>
                <c:pt idx="22">
                  <c:v>46.600000000000023</c:v>
                </c:pt>
                <c:pt idx="23">
                  <c:v>-5.9000000000000057</c:v>
                </c:pt>
                <c:pt idx="24">
                  <c:v>-1.0000000000000071</c:v>
                </c:pt>
                <c:pt idx="25">
                  <c:v>14.499999999999972</c:v>
                </c:pt>
                <c:pt idx="26">
                  <c:v>7.2999999999999261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45-46CB-B6A7-7930F2506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2871503"/>
        <c:axId val="862871983"/>
      </c:barChart>
      <c:catAx>
        <c:axId val="862871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871983"/>
        <c:crosses val="autoZero"/>
        <c:auto val="1"/>
        <c:lblAlgn val="ctr"/>
        <c:lblOffset val="100"/>
        <c:noMultiLvlLbl val="0"/>
      </c:catAx>
      <c:valAx>
        <c:axId val="862871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871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3DF74E-4A3C-45C9-B2FE-1D32C4F7EC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F8E448-AA5C-4BF1-807B-B634AC1B11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goal was to develop a system that estimates win probabilities for any specific match-up.</a:t>
          </a:r>
          <a:endParaRPr lang="en-US"/>
        </a:p>
      </dgm:t>
    </dgm:pt>
    <dgm:pt modelId="{F5AA7D76-A846-4EB3-9E7C-EDD4E94C9600}" type="parTrans" cxnId="{F67A4C7B-D32D-44DF-9AE1-78F93C877F11}">
      <dgm:prSet/>
      <dgm:spPr/>
      <dgm:t>
        <a:bodyPr/>
        <a:lstStyle/>
        <a:p>
          <a:endParaRPr lang="en-US"/>
        </a:p>
      </dgm:t>
    </dgm:pt>
    <dgm:pt modelId="{91D6AE50-00B2-4639-865F-0E3D0CBA2DE5}" type="sibTrans" cxnId="{F67A4C7B-D32D-44DF-9AE1-78F93C877F11}">
      <dgm:prSet/>
      <dgm:spPr/>
      <dgm:t>
        <a:bodyPr/>
        <a:lstStyle/>
        <a:p>
          <a:endParaRPr lang="en-US"/>
        </a:p>
      </dgm:t>
    </dgm:pt>
    <dgm:pt modelId="{2455685C-565F-42BE-8C12-C81D93CD59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We created a custom performance score using Expected Goals, Expected Goals Against, and Shots on Target.</a:t>
          </a:r>
          <a:endParaRPr lang="en-US"/>
        </a:p>
      </dgm:t>
    </dgm:pt>
    <dgm:pt modelId="{C4D8D129-9791-4186-A4CC-5E1D555E6EC2}" type="parTrans" cxnId="{29AF5004-22AE-4128-A9FB-D3884061B4FA}">
      <dgm:prSet/>
      <dgm:spPr/>
      <dgm:t>
        <a:bodyPr/>
        <a:lstStyle/>
        <a:p>
          <a:endParaRPr lang="en-US"/>
        </a:p>
      </dgm:t>
    </dgm:pt>
    <dgm:pt modelId="{65D012D2-A9C5-4F59-A2AD-8D8D4D25DFA1}" type="sibTrans" cxnId="{29AF5004-22AE-4128-A9FB-D3884061B4FA}">
      <dgm:prSet/>
      <dgm:spPr/>
      <dgm:t>
        <a:bodyPr/>
        <a:lstStyle/>
        <a:p>
          <a:endParaRPr lang="en-US"/>
        </a:p>
      </dgm:t>
    </dgm:pt>
    <dgm:pt modelId="{842D8312-56AE-49B5-8326-ADC1B502D8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Functions for performance score of a team and win probability of a team were defined as main models for getting results. </a:t>
          </a:r>
          <a:endParaRPr lang="en-US" dirty="0"/>
        </a:p>
      </dgm:t>
    </dgm:pt>
    <dgm:pt modelId="{12DDEF11-B667-4DC0-93CC-4E93F9CC3610}" type="parTrans" cxnId="{059503F7-B2D1-471B-91A3-46D856DC628C}">
      <dgm:prSet/>
      <dgm:spPr/>
      <dgm:t>
        <a:bodyPr/>
        <a:lstStyle/>
        <a:p>
          <a:endParaRPr lang="en-US"/>
        </a:p>
      </dgm:t>
    </dgm:pt>
    <dgm:pt modelId="{12F74CA0-D436-47AB-93E9-ABBFDE94312F}" type="sibTrans" cxnId="{059503F7-B2D1-471B-91A3-46D856DC628C}">
      <dgm:prSet/>
      <dgm:spPr/>
      <dgm:t>
        <a:bodyPr/>
        <a:lstStyle/>
        <a:p>
          <a:endParaRPr lang="en-US"/>
        </a:p>
      </dgm:t>
    </dgm:pt>
    <dgm:pt modelId="{BE9A1AF0-A182-4EA2-A957-718E01BCBD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We tested the model on an Aston Villa Club and also checked by hand result against Liverpool to analyze if model satisfies calculation.</a:t>
          </a:r>
          <a:endParaRPr lang="en-US" dirty="0"/>
        </a:p>
      </dgm:t>
    </dgm:pt>
    <dgm:pt modelId="{975F94EA-811B-40FF-8D76-E315211B0B08}" type="parTrans" cxnId="{6DD4F009-0727-4EBD-AD7D-02BB0BCA52E0}">
      <dgm:prSet/>
      <dgm:spPr/>
      <dgm:t>
        <a:bodyPr/>
        <a:lstStyle/>
        <a:p>
          <a:endParaRPr lang="en-US"/>
        </a:p>
      </dgm:t>
    </dgm:pt>
    <dgm:pt modelId="{A3472809-12EE-4E5E-BE6A-4B3D24CD59EE}" type="sibTrans" cxnId="{6DD4F009-0727-4EBD-AD7D-02BB0BCA52E0}">
      <dgm:prSet/>
      <dgm:spPr/>
      <dgm:t>
        <a:bodyPr/>
        <a:lstStyle/>
        <a:p>
          <a:endParaRPr lang="en-US"/>
        </a:p>
      </dgm:t>
    </dgm:pt>
    <dgm:pt modelId="{72F6FBCD-E7A4-4DA3-9879-295F4F0143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Results were given in histogram form with Aston Villa estimated win probability against sample of teams and team performance of each team.</a:t>
          </a:r>
          <a:endParaRPr lang="en-US" dirty="0"/>
        </a:p>
      </dgm:t>
    </dgm:pt>
    <dgm:pt modelId="{D72AA798-87CB-46D7-8405-A96644CA56F2}" type="parTrans" cxnId="{D34E72AF-F30F-4921-88F5-A21A24151BBA}">
      <dgm:prSet/>
      <dgm:spPr/>
      <dgm:t>
        <a:bodyPr/>
        <a:lstStyle/>
        <a:p>
          <a:endParaRPr lang="en-US"/>
        </a:p>
      </dgm:t>
    </dgm:pt>
    <dgm:pt modelId="{96304D9A-079A-4CCF-A026-A25683D8A010}" type="sibTrans" cxnId="{D34E72AF-F30F-4921-88F5-A21A24151BBA}">
      <dgm:prSet/>
      <dgm:spPr/>
      <dgm:t>
        <a:bodyPr/>
        <a:lstStyle/>
        <a:p>
          <a:endParaRPr lang="en-US"/>
        </a:p>
      </dgm:t>
    </dgm:pt>
    <dgm:pt modelId="{2016F5AF-A9AC-4B58-8402-00B422C58991}" type="pres">
      <dgm:prSet presAssocID="{5F3DF74E-4A3C-45C9-B2FE-1D32C4F7EC5B}" presName="root" presStyleCnt="0">
        <dgm:presLayoutVars>
          <dgm:dir/>
          <dgm:resizeHandles val="exact"/>
        </dgm:presLayoutVars>
      </dgm:prSet>
      <dgm:spPr/>
    </dgm:pt>
    <dgm:pt modelId="{06A80E52-1171-47CC-ACE6-832DA4D329A0}" type="pres">
      <dgm:prSet presAssocID="{77F8E448-AA5C-4BF1-807B-B634AC1B1190}" presName="compNode" presStyleCnt="0"/>
      <dgm:spPr/>
    </dgm:pt>
    <dgm:pt modelId="{1610F253-2EF2-42EF-A556-4E1CE9BC888F}" type="pres">
      <dgm:prSet presAssocID="{77F8E448-AA5C-4BF1-807B-B634AC1B1190}" presName="bgRect" presStyleLbl="bgShp" presStyleIdx="0" presStyleCnt="5"/>
      <dgm:spPr/>
    </dgm:pt>
    <dgm:pt modelId="{51106806-0639-4922-9E4F-27791D7D0E08}" type="pres">
      <dgm:prSet presAssocID="{77F8E448-AA5C-4BF1-807B-B634AC1B119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108261-1B28-4512-99B7-E8B8489F5615}" type="pres">
      <dgm:prSet presAssocID="{77F8E448-AA5C-4BF1-807B-B634AC1B1190}" presName="spaceRect" presStyleCnt="0"/>
      <dgm:spPr/>
    </dgm:pt>
    <dgm:pt modelId="{9FE445F7-0F0F-416A-9AB9-D437FFF05252}" type="pres">
      <dgm:prSet presAssocID="{77F8E448-AA5C-4BF1-807B-B634AC1B1190}" presName="parTx" presStyleLbl="revTx" presStyleIdx="0" presStyleCnt="5">
        <dgm:presLayoutVars>
          <dgm:chMax val="0"/>
          <dgm:chPref val="0"/>
        </dgm:presLayoutVars>
      </dgm:prSet>
      <dgm:spPr/>
    </dgm:pt>
    <dgm:pt modelId="{B3694998-8ED4-44B7-9B86-5EF95A26A1B9}" type="pres">
      <dgm:prSet presAssocID="{91D6AE50-00B2-4639-865F-0E3D0CBA2DE5}" presName="sibTrans" presStyleCnt="0"/>
      <dgm:spPr/>
    </dgm:pt>
    <dgm:pt modelId="{73808C97-2052-49A7-B1AE-C541A42EEDBC}" type="pres">
      <dgm:prSet presAssocID="{2455685C-565F-42BE-8C12-C81D93CD59D0}" presName="compNode" presStyleCnt="0"/>
      <dgm:spPr/>
    </dgm:pt>
    <dgm:pt modelId="{D1E7CB8B-0960-43D9-B341-A903B4303B7E}" type="pres">
      <dgm:prSet presAssocID="{2455685C-565F-42BE-8C12-C81D93CD59D0}" presName="bgRect" presStyleLbl="bgShp" presStyleIdx="1" presStyleCnt="5"/>
      <dgm:spPr/>
    </dgm:pt>
    <dgm:pt modelId="{61192201-D341-43FD-91DB-7D91B6DB066A}" type="pres">
      <dgm:prSet presAssocID="{2455685C-565F-42BE-8C12-C81D93CD59D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248A492-021A-49B3-A7FB-D10D9ABC61A0}" type="pres">
      <dgm:prSet presAssocID="{2455685C-565F-42BE-8C12-C81D93CD59D0}" presName="spaceRect" presStyleCnt="0"/>
      <dgm:spPr/>
    </dgm:pt>
    <dgm:pt modelId="{C834311A-A01F-4950-8FB3-7748C2D011EB}" type="pres">
      <dgm:prSet presAssocID="{2455685C-565F-42BE-8C12-C81D93CD59D0}" presName="parTx" presStyleLbl="revTx" presStyleIdx="1" presStyleCnt="5">
        <dgm:presLayoutVars>
          <dgm:chMax val="0"/>
          <dgm:chPref val="0"/>
        </dgm:presLayoutVars>
      </dgm:prSet>
      <dgm:spPr/>
    </dgm:pt>
    <dgm:pt modelId="{B01C6FC7-FFF6-4D3F-8D31-48F306AAACBA}" type="pres">
      <dgm:prSet presAssocID="{65D012D2-A9C5-4F59-A2AD-8D8D4D25DFA1}" presName="sibTrans" presStyleCnt="0"/>
      <dgm:spPr/>
    </dgm:pt>
    <dgm:pt modelId="{8E29B298-1B42-4FA2-8AF1-4711574051BB}" type="pres">
      <dgm:prSet presAssocID="{842D8312-56AE-49B5-8326-ADC1B502D89E}" presName="compNode" presStyleCnt="0"/>
      <dgm:spPr/>
    </dgm:pt>
    <dgm:pt modelId="{7FAC5CA9-1D56-42B1-850D-1F33058DCCFC}" type="pres">
      <dgm:prSet presAssocID="{842D8312-56AE-49B5-8326-ADC1B502D89E}" presName="bgRect" presStyleLbl="bgShp" presStyleIdx="2" presStyleCnt="5"/>
      <dgm:spPr/>
    </dgm:pt>
    <dgm:pt modelId="{D55F2B27-347F-4C65-8AF4-F456DC9482B4}" type="pres">
      <dgm:prSet presAssocID="{842D8312-56AE-49B5-8326-ADC1B502D89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B541967-F84F-4C70-BF58-7D2F9F6E0418}" type="pres">
      <dgm:prSet presAssocID="{842D8312-56AE-49B5-8326-ADC1B502D89E}" presName="spaceRect" presStyleCnt="0"/>
      <dgm:spPr/>
    </dgm:pt>
    <dgm:pt modelId="{127B0449-B5C2-4B1C-A268-12B5A6D056B7}" type="pres">
      <dgm:prSet presAssocID="{842D8312-56AE-49B5-8326-ADC1B502D89E}" presName="parTx" presStyleLbl="revTx" presStyleIdx="2" presStyleCnt="5">
        <dgm:presLayoutVars>
          <dgm:chMax val="0"/>
          <dgm:chPref val="0"/>
        </dgm:presLayoutVars>
      </dgm:prSet>
      <dgm:spPr/>
    </dgm:pt>
    <dgm:pt modelId="{5704531D-8E2D-4728-9AC0-49B75B39470A}" type="pres">
      <dgm:prSet presAssocID="{12F74CA0-D436-47AB-93E9-ABBFDE94312F}" presName="sibTrans" presStyleCnt="0"/>
      <dgm:spPr/>
    </dgm:pt>
    <dgm:pt modelId="{71F84ED8-A016-40FA-B1B2-74C2CED294A1}" type="pres">
      <dgm:prSet presAssocID="{BE9A1AF0-A182-4EA2-A957-718E01BCBDAB}" presName="compNode" presStyleCnt="0"/>
      <dgm:spPr/>
    </dgm:pt>
    <dgm:pt modelId="{213CA15F-331B-4EE3-8EC9-3C96485F1069}" type="pres">
      <dgm:prSet presAssocID="{BE9A1AF0-A182-4EA2-A957-718E01BCBDAB}" presName="bgRect" presStyleLbl="bgShp" presStyleIdx="3" presStyleCnt="5"/>
      <dgm:spPr/>
    </dgm:pt>
    <dgm:pt modelId="{328A7D2A-BF50-4F49-A7F9-0E2CCE36DB25}" type="pres">
      <dgm:prSet presAssocID="{BE9A1AF0-A182-4EA2-A957-718E01BCBDA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prechaun Hat"/>
        </a:ext>
      </dgm:extLst>
    </dgm:pt>
    <dgm:pt modelId="{0046F77C-9BB1-45F0-8769-8E6D76575B99}" type="pres">
      <dgm:prSet presAssocID="{BE9A1AF0-A182-4EA2-A957-718E01BCBDAB}" presName="spaceRect" presStyleCnt="0"/>
      <dgm:spPr/>
    </dgm:pt>
    <dgm:pt modelId="{4D8C0A1E-FC2C-4D4E-8848-A7D93C242413}" type="pres">
      <dgm:prSet presAssocID="{BE9A1AF0-A182-4EA2-A957-718E01BCBDAB}" presName="parTx" presStyleLbl="revTx" presStyleIdx="3" presStyleCnt="5">
        <dgm:presLayoutVars>
          <dgm:chMax val="0"/>
          <dgm:chPref val="0"/>
        </dgm:presLayoutVars>
      </dgm:prSet>
      <dgm:spPr/>
    </dgm:pt>
    <dgm:pt modelId="{98A4F6B9-2987-4B69-B83B-2A2082CB6BF7}" type="pres">
      <dgm:prSet presAssocID="{A3472809-12EE-4E5E-BE6A-4B3D24CD59EE}" presName="sibTrans" presStyleCnt="0"/>
      <dgm:spPr/>
    </dgm:pt>
    <dgm:pt modelId="{D0130DE7-132E-4B16-BA7E-CE0182FB0F9D}" type="pres">
      <dgm:prSet presAssocID="{72F6FBCD-E7A4-4DA3-9879-295F4F014389}" presName="compNode" presStyleCnt="0"/>
      <dgm:spPr/>
    </dgm:pt>
    <dgm:pt modelId="{A708992A-EF04-4408-A871-262AEC1BE9A8}" type="pres">
      <dgm:prSet presAssocID="{72F6FBCD-E7A4-4DA3-9879-295F4F014389}" presName="bgRect" presStyleLbl="bgShp" presStyleIdx="4" presStyleCnt="5"/>
      <dgm:spPr/>
    </dgm:pt>
    <dgm:pt modelId="{ECF447A4-C444-4304-ABE9-FE83EB074758}" type="pres">
      <dgm:prSet presAssocID="{72F6FBCD-E7A4-4DA3-9879-295F4F01438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AE5223C-F3F8-4672-90F9-D5021C4828BF}" type="pres">
      <dgm:prSet presAssocID="{72F6FBCD-E7A4-4DA3-9879-295F4F014389}" presName="spaceRect" presStyleCnt="0"/>
      <dgm:spPr/>
    </dgm:pt>
    <dgm:pt modelId="{22A801F9-2B2D-419D-8F97-BAFAA6F0C5F6}" type="pres">
      <dgm:prSet presAssocID="{72F6FBCD-E7A4-4DA3-9879-295F4F01438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9AF5004-22AE-4128-A9FB-D3884061B4FA}" srcId="{5F3DF74E-4A3C-45C9-B2FE-1D32C4F7EC5B}" destId="{2455685C-565F-42BE-8C12-C81D93CD59D0}" srcOrd="1" destOrd="0" parTransId="{C4D8D129-9791-4186-A4CC-5E1D555E6EC2}" sibTransId="{65D012D2-A9C5-4F59-A2AD-8D8D4D25DFA1}"/>
    <dgm:cxn modelId="{6DD4F009-0727-4EBD-AD7D-02BB0BCA52E0}" srcId="{5F3DF74E-4A3C-45C9-B2FE-1D32C4F7EC5B}" destId="{BE9A1AF0-A182-4EA2-A957-718E01BCBDAB}" srcOrd="3" destOrd="0" parTransId="{975F94EA-811B-40FF-8D76-E315211B0B08}" sibTransId="{A3472809-12EE-4E5E-BE6A-4B3D24CD59EE}"/>
    <dgm:cxn modelId="{766F611E-CA04-42F5-B70C-F6C7CA3EAC17}" type="presOf" srcId="{77F8E448-AA5C-4BF1-807B-B634AC1B1190}" destId="{9FE445F7-0F0F-416A-9AB9-D437FFF05252}" srcOrd="0" destOrd="0" presId="urn:microsoft.com/office/officeart/2018/2/layout/IconVerticalSolidList"/>
    <dgm:cxn modelId="{75AA8767-C8E0-4CA5-9842-F2BA7F42B9F7}" type="presOf" srcId="{842D8312-56AE-49B5-8326-ADC1B502D89E}" destId="{127B0449-B5C2-4B1C-A268-12B5A6D056B7}" srcOrd="0" destOrd="0" presId="urn:microsoft.com/office/officeart/2018/2/layout/IconVerticalSolidList"/>
    <dgm:cxn modelId="{A37A9178-6050-4AB8-AEC3-F3272E7BB232}" type="presOf" srcId="{72F6FBCD-E7A4-4DA3-9879-295F4F014389}" destId="{22A801F9-2B2D-419D-8F97-BAFAA6F0C5F6}" srcOrd="0" destOrd="0" presId="urn:microsoft.com/office/officeart/2018/2/layout/IconVerticalSolidList"/>
    <dgm:cxn modelId="{F67A4C7B-D32D-44DF-9AE1-78F93C877F11}" srcId="{5F3DF74E-4A3C-45C9-B2FE-1D32C4F7EC5B}" destId="{77F8E448-AA5C-4BF1-807B-B634AC1B1190}" srcOrd="0" destOrd="0" parTransId="{F5AA7D76-A846-4EB3-9E7C-EDD4E94C9600}" sibTransId="{91D6AE50-00B2-4639-865F-0E3D0CBA2DE5}"/>
    <dgm:cxn modelId="{695FD97B-E544-4662-8847-5C63284B6716}" type="presOf" srcId="{BE9A1AF0-A182-4EA2-A957-718E01BCBDAB}" destId="{4D8C0A1E-FC2C-4D4E-8848-A7D93C242413}" srcOrd="0" destOrd="0" presId="urn:microsoft.com/office/officeart/2018/2/layout/IconVerticalSolidList"/>
    <dgm:cxn modelId="{835B24AE-0A8B-4617-BD28-D70D9803A7CA}" type="presOf" srcId="{2455685C-565F-42BE-8C12-C81D93CD59D0}" destId="{C834311A-A01F-4950-8FB3-7748C2D011EB}" srcOrd="0" destOrd="0" presId="urn:microsoft.com/office/officeart/2018/2/layout/IconVerticalSolidList"/>
    <dgm:cxn modelId="{D34E72AF-F30F-4921-88F5-A21A24151BBA}" srcId="{5F3DF74E-4A3C-45C9-B2FE-1D32C4F7EC5B}" destId="{72F6FBCD-E7A4-4DA3-9879-295F4F014389}" srcOrd="4" destOrd="0" parTransId="{D72AA798-87CB-46D7-8405-A96644CA56F2}" sibTransId="{96304D9A-079A-4CCF-A026-A25683D8A010}"/>
    <dgm:cxn modelId="{0F993CD6-E99E-4059-AA9E-6C19EA41E20A}" type="presOf" srcId="{5F3DF74E-4A3C-45C9-B2FE-1D32C4F7EC5B}" destId="{2016F5AF-A9AC-4B58-8402-00B422C58991}" srcOrd="0" destOrd="0" presId="urn:microsoft.com/office/officeart/2018/2/layout/IconVerticalSolidList"/>
    <dgm:cxn modelId="{059503F7-B2D1-471B-91A3-46D856DC628C}" srcId="{5F3DF74E-4A3C-45C9-B2FE-1D32C4F7EC5B}" destId="{842D8312-56AE-49B5-8326-ADC1B502D89E}" srcOrd="2" destOrd="0" parTransId="{12DDEF11-B667-4DC0-93CC-4E93F9CC3610}" sibTransId="{12F74CA0-D436-47AB-93E9-ABBFDE94312F}"/>
    <dgm:cxn modelId="{19FD9B4A-DE9E-4ACC-8CA8-58D22641AECB}" type="presParOf" srcId="{2016F5AF-A9AC-4B58-8402-00B422C58991}" destId="{06A80E52-1171-47CC-ACE6-832DA4D329A0}" srcOrd="0" destOrd="0" presId="urn:microsoft.com/office/officeart/2018/2/layout/IconVerticalSolidList"/>
    <dgm:cxn modelId="{5C8B5845-1A33-4708-BAD8-C50C7EC5C7C6}" type="presParOf" srcId="{06A80E52-1171-47CC-ACE6-832DA4D329A0}" destId="{1610F253-2EF2-42EF-A556-4E1CE9BC888F}" srcOrd="0" destOrd="0" presId="urn:microsoft.com/office/officeart/2018/2/layout/IconVerticalSolidList"/>
    <dgm:cxn modelId="{3EAB005E-44C5-4422-9183-335D412085D5}" type="presParOf" srcId="{06A80E52-1171-47CC-ACE6-832DA4D329A0}" destId="{51106806-0639-4922-9E4F-27791D7D0E08}" srcOrd="1" destOrd="0" presId="urn:microsoft.com/office/officeart/2018/2/layout/IconVerticalSolidList"/>
    <dgm:cxn modelId="{507EE3B8-4AA0-4994-BBA5-9E7B735867FE}" type="presParOf" srcId="{06A80E52-1171-47CC-ACE6-832DA4D329A0}" destId="{36108261-1B28-4512-99B7-E8B8489F5615}" srcOrd="2" destOrd="0" presId="urn:microsoft.com/office/officeart/2018/2/layout/IconVerticalSolidList"/>
    <dgm:cxn modelId="{72AEB2CB-52ED-4974-9C9D-55794DE6DE7E}" type="presParOf" srcId="{06A80E52-1171-47CC-ACE6-832DA4D329A0}" destId="{9FE445F7-0F0F-416A-9AB9-D437FFF05252}" srcOrd="3" destOrd="0" presId="urn:microsoft.com/office/officeart/2018/2/layout/IconVerticalSolidList"/>
    <dgm:cxn modelId="{AC516F59-A8E2-4C47-A848-2F8957EFCCAF}" type="presParOf" srcId="{2016F5AF-A9AC-4B58-8402-00B422C58991}" destId="{B3694998-8ED4-44B7-9B86-5EF95A26A1B9}" srcOrd="1" destOrd="0" presId="urn:microsoft.com/office/officeart/2018/2/layout/IconVerticalSolidList"/>
    <dgm:cxn modelId="{EFBE22BA-9874-465D-9FE9-0898101A0764}" type="presParOf" srcId="{2016F5AF-A9AC-4B58-8402-00B422C58991}" destId="{73808C97-2052-49A7-B1AE-C541A42EEDBC}" srcOrd="2" destOrd="0" presId="urn:microsoft.com/office/officeart/2018/2/layout/IconVerticalSolidList"/>
    <dgm:cxn modelId="{6EC88B11-7729-4CC2-950C-9B7C3F31ECB0}" type="presParOf" srcId="{73808C97-2052-49A7-B1AE-C541A42EEDBC}" destId="{D1E7CB8B-0960-43D9-B341-A903B4303B7E}" srcOrd="0" destOrd="0" presId="urn:microsoft.com/office/officeart/2018/2/layout/IconVerticalSolidList"/>
    <dgm:cxn modelId="{5F33F72B-C824-4837-89AB-1BAD9A9348A3}" type="presParOf" srcId="{73808C97-2052-49A7-B1AE-C541A42EEDBC}" destId="{61192201-D341-43FD-91DB-7D91B6DB066A}" srcOrd="1" destOrd="0" presId="urn:microsoft.com/office/officeart/2018/2/layout/IconVerticalSolidList"/>
    <dgm:cxn modelId="{8FFCE1E8-C0F2-42A2-8C7D-B254FC7A1E37}" type="presParOf" srcId="{73808C97-2052-49A7-B1AE-C541A42EEDBC}" destId="{2248A492-021A-49B3-A7FB-D10D9ABC61A0}" srcOrd="2" destOrd="0" presId="urn:microsoft.com/office/officeart/2018/2/layout/IconVerticalSolidList"/>
    <dgm:cxn modelId="{CD5854D2-0BD5-4B45-903E-05813955DBEB}" type="presParOf" srcId="{73808C97-2052-49A7-B1AE-C541A42EEDBC}" destId="{C834311A-A01F-4950-8FB3-7748C2D011EB}" srcOrd="3" destOrd="0" presId="urn:microsoft.com/office/officeart/2018/2/layout/IconVerticalSolidList"/>
    <dgm:cxn modelId="{76A630C9-93CF-4540-970F-7589817279CF}" type="presParOf" srcId="{2016F5AF-A9AC-4B58-8402-00B422C58991}" destId="{B01C6FC7-FFF6-4D3F-8D31-48F306AAACBA}" srcOrd="3" destOrd="0" presId="urn:microsoft.com/office/officeart/2018/2/layout/IconVerticalSolidList"/>
    <dgm:cxn modelId="{695A3A6A-CFE7-4CA1-B063-ED5A4219F036}" type="presParOf" srcId="{2016F5AF-A9AC-4B58-8402-00B422C58991}" destId="{8E29B298-1B42-4FA2-8AF1-4711574051BB}" srcOrd="4" destOrd="0" presId="urn:microsoft.com/office/officeart/2018/2/layout/IconVerticalSolidList"/>
    <dgm:cxn modelId="{737B141A-9AE2-4A81-B3BA-FD4CD699EDA0}" type="presParOf" srcId="{8E29B298-1B42-4FA2-8AF1-4711574051BB}" destId="{7FAC5CA9-1D56-42B1-850D-1F33058DCCFC}" srcOrd="0" destOrd="0" presId="urn:microsoft.com/office/officeart/2018/2/layout/IconVerticalSolidList"/>
    <dgm:cxn modelId="{7348644D-0116-4EE0-9729-0892FE7EF212}" type="presParOf" srcId="{8E29B298-1B42-4FA2-8AF1-4711574051BB}" destId="{D55F2B27-347F-4C65-8AF4-F456DC9482B4}" srcOrd="1" destOrd="0" presId="urn:microsoft.com/office/officeart/2018/2/layout/IconVerticalSolidList"/>
    <dgm:cxn modelId="{2D8D656E-B3B9-4436-8C95-2F09EDB15EF6}" type="presParOf" srcId="{8E29B298-1B42-4FA2-8AF1-4711574051BB}" destId="{9B541967-F84F-4C70-BF58-7D2F9F6E0418}" srcOrd="2" destOrd="0" presId="urn:microsoft.com/office/officeart/2018/2/layout/IconVerticalSolidList"/>
    <dgm:cxn modelId="{0BED36CC-9157-4D22-83D9-FBE2C107E474}" type="presParOf" srcId="{8E29B298-1B42-4FA2-8AF1-4711574051BB}" destId="{127B0449-B5C2-4B1C-A268-12B5A6D056B7}" srcOrd="3" destOrd="0" presId="urn:microsoft.com/office/officeart/2018/2/layout/IconVerticalSolidList"/>
    <dgm:cxn modelId="{066F3BCE-C86D-4259-B063-A44A4003FDCF}" type="presParOf" srcId="{2016F5AF-A9AC-4B58-8402-00B422C58991}" destId="{5704531D-8E2D-4728-9AC0-49B75B39470A}" srcOrd="5" destOrd="0" presId="urn:microsoft.com/office/officeart/2018/2/layout/IconVerticalSolidList"/>
    <dgm:cxn modelId="{B9D889BD-D038-470B-92A0-5836354B4208}" type="presParOf" srcId="{2016F5AF-A9AC-4B58-8402-00B422C58991}" destId="{71F84ED8-A016-40FA-B1B2-74C2CED294A1}" srcOrd="6" destOrd="0" presId="urn:microsoft.com/office/officeart/2018/2/layout/IconVerticalSolidList"/>
    <dgm:cxn modelId="{B73E9805-7438-4E04-8C1D-C5F2C2A1FA89}" type="presParOf" srcId="{71F84ED8-A016-40FA-B1B2-74C2CED294A1}" destId="{213CA15F-331B-4EE3-8EC9-3C96485F1069}" srcOrd="0" destOrd="0" presId="urn:microsoft.com/office/officeart/2018/2/layout/IconVerticalSolidList"/>
    <dgm:cxn modelId="{FE29A0B3-6EC8-49DF-9EA5-FF5B4CE2FC90}" type="presParOf" srcId="{71F84ED8-A016-40FA-B1B2-74C2CED294A1}" destId="{328A7D2A-BF50-4F49-A7F9-0E2CCE36DB25}" srcOrd="1" destOrd="0" presId="urn:microsoft.com/office/officeart/2018/2/layout/IconVerticalSolidList"/>
    <dgm:cxn modelId="{C2D046E1-5BEC-4914-B86C-467B5CBCBA9F}" type="presParOf" srcId="{71F84ED8-A016-40FA-B1B2-74C2CED294A1}" destId="{0046F77C-9BB1-45F0-8769-8E6D76575B99}" srcOrd="2" destOrd="0" presId="urn:microsoft.com/office/officeart/2018/2/layout/IconVerticalSolidList"/>
    <dgm:cxn modelId="{33A9296B-B468-4D30-A473-DC5E6D9F69B6}" type="presParOf" srcId="{71F84ED8-A016-40FA-B1B2-74C2CED294A1}" destId="{4D8C0A1E-FC2C-4D4E-8848-A7D93C242413}" srcOrd="3" destOrd="0" presId="urn:microsoft.com/office/officeart/2018/2/layout/IconVerticalSolidList"/>
    <dgm:cxn modelId="{271B8694-A44C-4B9B-B494-2601B38F0D86}" type="presParOf" srcId="{2016F5AF-A9AC-4B58-8402-00B422C58991}" destId="{98A4F6B9-2987-4B69-B83B-2A2082CB6BF7}" srcOrd="7" destOrd="0" presId="urn:microsoft.com/office/officeart/2018/2/layout/IconVerticalSolidList"/>
    <dgm:cxn modelId="{3238E099-CDD5-4B95-B4EE-94928728F520}" type="presParOf" srcId="{2016F5AF-A9AC-4B58-8402-00B422C58991}" destId="{D0130DE7-132E-4B16-BA7E-CE0182FB0F9D}" srcOrd="8" destOrd="0" presId="urn:microsoft.com/office/officeart/2018/2/layout/IconVerticalSolidList"/>
    <dgm:cxn modelId="{746E9086-AF28-4A7A-AAE4-5087F4902D34}" type="presParOf" srcId="{D0130DE7-132E-4B16-BA7E-CE0182FB0F9D}" destId="{A708992A-EF04-4408-A871-262AEC1BE9A8}" srcOrd="0" destOrd="0" presId="urn:microsoft.com/office/officeart/2018/2/layout/IconVerticalSolidList"/>
    <dgm:cxn modelId="{CC9B5097-33D7-4B73-A552-8210FD5B61BE}" type="presParOf" srcId="{D0130DE7-132E-4B16-BA7E-CE0182FB0F9D}" destId="{ECF447A4-C444-4304-ABE9-FE83EB074758}" srcOrd="1" destOrd="0" presId="urn:microsoft.com/office/officeart/2018/2/layout/IconVerticalSolidList"/>
    <dgm:cxn modelId="{89371C1E-2F49-442F-88C9-7F72BE2C3AD1}" type="presParOf" srcId="{D0130DE7-132E-4B16-BA7E-CE0182FB0F9D}" destId="{CAE5223C-F3F8-4672-90F9-D5021C4828BF}" srcOrd="2" destOrd="0" presId="urn:microsoft.com/office/officeart/2018/2/layout/IconVerticalSolidList"/>
    <dgm:cxn modelId="{DADCC7A7-8DB1-4BEB-8239-8CE5A05DEFD0}" type="presParOf" srcId="{D0130DE7-132E-4B16-BA7E-CE0182FB0F9D}" destId="{22A801F9-2B2D-419D-8F97-BAFAA6F0C5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3DF74E-4A3C-45C9-B2FE-1D32C4F7EC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F8E448-AA5C-4BF1-807B-B634AC1B11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The goal was to develop a system that predicts team probability using more advanced model – Test/Train Model (80/20).</a:t>
          </a:r>
          <a:endParaRPr lang="en-US" dirty="0"/>
        </a:p>
      </dgm:t>
    </dgm:pt>
    <dgm:pt modelId="{F5AA7D76-A846-4EB3-9E7C-EDD4E94C9600}" type="parTrans" cxnId="{F67A4C7B-D32D-44DF-9AE1-78F93C877F11}">
      <dgm:prSet/>
      <dgm:spPr/>
      <dgm:t>
        <a:bodyPr/>
        <a:lstStyle/>
        <a:p>
          <a:endParaRPr lang="en-US"/>
        </a:p>
      </dgm:t>
    </dgm:pt>
    <dgm:pt modelId="{91D6AE50-00B2-4639-865F-0E3D0CBA2DE5}" type="sibTrans" cxnId="{F67A4C7B-D32D-44DF-9AE1-78F93C877F11}">
      <dgm:prSet/>
      <dgm:spPr/>
      <dgm:t>
        <a:bodyPr/>
        <a:lstStyle/>
        <a:p>
          <a:endParaRPr lang="en-US"/>
        </a:p>
      </dgm:t>
    </dgm:pt>
    <dgm:pt modelId="{2455685C-565F-42BE-8C12-C81D93CD59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Idea is similar like in Case 1, but here we take 80% of data as train model and record 20% of data as test model and compare with actual values.</a:t>
          </a:r>
        </a:p>
      </dgm:t>
    </dgm:pt>
    <dgm:pt modelId="{C4D8D129-9791-4186-A4CC-5E1D555E6EC2}" type="parTrans" cxnId="{29AF5004-22AE-4128-A9FB-D3884061B4FA}">
      <dgm:prSet/>
      <dgm:spPr/>
      <dgm:t>
        <a:bodyPr/>
        <a:lstStyle/>
        <a:p>
          <a:endParaRPr lang="en-US"/>
        </a:p>
      </dgm:t>
    </dgm:pt>
    <dgm:pt modelId="{65D012D2-A9C5-4F59-A2AD-8D8D4D25DFA1}" type="sibTrans" cxnId="{29AF5004-22AE-4128-A9FB-D3884061B4FA}">
      <dgm:prSet/>
      <dgm:spPr/>
      <dgm:t>
        <a:bodyPr/>
        <a:lstStyle/>
        <a:p>
          <a:endParaRPr lang="en-US"/>
        </a:p>
      </dgm:t>
    </dgm:pt>
    <dgm:pt modelId="{842D8312-56AE-49B5-8326-ADC1B502D8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Model accuracy - out of all matches model predicts correct outcome in 65.06%, which is better than random guessing (50%).</a:t>
          </a:r>
        </a:p>
      </dgm:t>
    </dgm:pt>
    <dgm:pt modelId="{12DDEF11-B667-4DC0-93CC-4E93F9CC3610}" type="parTrans" cxnId="{059503F7-B2D1-471B-91A3-46D856DC628C}">
      <dgm:prSet/>
      <dgm:spPr/>
      <dgm:t>
        <a:bodyPr/>
        <a:lstStyle/>
        <a:p>
          <a:endParaRPr lang="en-US"/>
        </a:p>
      </dgm:t>
    </dgm:pt>
    <dgm:pt modelId="{12F74CA0-D436-47AB-93E9-ABBFDE94312F}" type="sibTrans" cxnId="{059503F7-B2D1-471B-91A3-46D856DC628C}">
      <dgm:prSet/>
      <dgm:spPr/>
      <dgm:t>
        <a:bodyPr/>
        <a:lstStyle/>
        <a:p>
          <a:endParaRPr lang="en-US"/>
        </a:p>
      </dgm:t>
    </dgm:pt>
    <dgm:pt modelId="{BE9A1AF0-A182-4EA2-A957-718E01BCBD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For Aston Villa case, model was correct in 52%, which is expected as this team is solid team, usually in the middle of a table, so prediction is more difficult.</a:t>
          </a:r>
          <a:endParaRPr lang="en-US" dirty="0"/>
        </a:p>
      </dgm:t>
    </dgm:pt>
    <dgm:pt modelId="{975F94EA-811B-40FF-8D76-E315211B0B08}" type="parTrans" cxnId="{6DD4F009-0727-4EBD-AD7D-02BB0BCA52E0}">
      <dgm:prSet/>
      <dgm:spPr/>
      <dgm:t>
        <a:bodyPr/>
        <a:lstStyle/>
        <a:p>
          <a:endParaRPr lang="en-US"/>
        </a:p>
      </dgm:t>
    </dgm:pt>
    <dgm:pt modelId="{A3472809-12EE-4E5E-BE6A-4B3D24CD59EE}" type="sibTrans" cxnId="{6DD4F009-0727-4EBD-AD7D-02BB0BCA52E0}">
      <dgm:prSet/>
      <dgm:spPr/>
      <dgm:t>
        <a:bodyPr/>
        <a:lstStyle/>
        <a:p>
          <a:endParaRPr lang="en-US"/>
        </a:p>
      </dgm:t>
    </dgm:pt>
    <dgm:pt modelId="{72F6FBCD-E7A4-4DA3-9879-295F4F0143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Interpretation of the results - </a:t>
          </a:r>
          <a:r>
            <a:rPr lang="en-GB" b="0" i="0" u="none" dirty="0"/>
            <a:t>if the bar from 0.1–0.2 on the x-axis has a height of 5, it means there are 5 matches where the model predicted a 10–20% chance of Aston Villa winning.</a:t>
          </a:r>
          <a:endParaRPr lang="en-US" dirty="0"/>
        </a:p>
      </dgm:t>
    </dgm:pt>
    <dgm:pt modelId="{D72AA798-87CB-46D7-8405-A96644CA56F2}" type="parTrans" cxnId="{D34E72AF-F30F-4921-88F5-A21A24151BBA}">
      <dgm:prSet/>
      <dgm:spPr/>
      <dgm:t>
        <a:bodyPr/>
        <a:lstStyle/>
        <a:p>
          <a:endParaRPr lang="en-US"/>
        </a:p>
      </dgm:t>
    </dgm:pt>
    <dgm:pt modelId="{96304D9A-079A-4CCF-A026-A25683D8A010}" type="sibTrans" cxnId="{D34E72AF-F30F-4921-88F5-A21A24151BBA}">
      <dgm:prSet/>
      <dgm:spPr/>
      <dgm:t>
        <a:bodyPr/>
        <a:lstStyle/>
        <a:p>
          <a:endParaRPr lang="en-US"/>
        </a:p>
      </dgm:t>
    </dgm:pt>
    <dgm:pt modelId="{2016F5AF-A9AC-4B58-8402-00B422C58991}" type="pres">
      <dgm:prSet presAssocID="{5F3DF74E-4A3C-45C9-B2FE-1D32C4F7EC5B}" presName="root" presStyleCnt="0">
        <dgm:presLayoutVars>
          <dgm:dir/>
          <dgm:resizeHandles val="exact"/>
        </dgm:presLayoutVars>
      </dgm:prSet>
      <dgm:spPr/>
    </dgm:pt>
    <dgm:pt modelId="{06A80E52-1171-47CC-ACE6-832DA4D329A0}" type="pres">
      <dgm:prSet presAssocID="{77F8E448-AA5C-4BF1-807B-B634AC1B1190}" presName="compNode" presStyleCnt="0"/>
      <dgm:spPr/>
    </dgm:pt>
    <dgm:pt modelId="{1610F253-2EF2-42EF-A556-4E1CE9BC888F}" type="pres">
      <dgm:prSet presAssocID="{77F8E448-AA5C-4BF1-807B-B634AC1B1190}" presName="bgRect" presStyleLbl="bgShp" presStyleIdx="0" presStyleCnt="5"/>
      <dgm:spPr/>
    </dgm:pt>
    <dgm:pt modelId="{51106806-0639-4922-9E4F-27791D7D0E08}" type="pres">
      <dgm:prSet presAssocID="{77F8E448-AA5C-4BF1-807B-B634AC1B119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108261-1B28-4512-99B7-E8B8489F5615}" type="pres">
      <dgm:prSet presAssocID="{77F8E448-AA5C-4BF1-807B-B634AC1B1190}" presName="spaceRect" presStyleCnt="0"/>
      <dgm:spPr/>
    </dgm:pt>
    <dgm:pt modelId="{9FE445F7-0F0F-416A-9AB9-D437FFF05252}" type="pres">
      <dgm:prSet presAssocID="{77F8E448-AA5C-4BF1-807B-B634AC1B1190}" presName="parTx" presStyleLbl="revTx" presStyleIdx="0" presStyleCnt="5">
        <dgm:presLayoutVars>
          <dgm:chMax val="0"/>
          <dgm:chPref val="0"/>
        </dgm:presLayoutVars>
      </dgm:prSet>
      <dgm:spPr/>
    </dgm:pt>
    <dgm:pt modelId="{B3694998-8ED4-44B7-9B86-5EF95A26A1B9}" type="pres">
      <dgm:prSet presAssocID="{91D6AE50-00B2-4639-865F-0E3D0CBA2DE5}" presName="sibTrans" presStyleCnt="0"/>
      <dgm:spPr/>
    </dgm:pt>
    <dgm:pt modelId="{73808C97-2052-49A7-B1AE-C541A42EEDBC}" type="pres">
      <dgm:prSet presAssocID="{2455685C-565F-42BE-8C12-C81D93CD59D0}" presName="compNode" presStyleCnt="0"/>
      <dgm:spPr/>
    </dgm:pt>
    <dgm:pt modelId="{D1E7CB8B-0960-43D9-B341-A903B4303B7E}" type="pres">
      <dgm:prSet presAssocID="{2455685C-565F-42BE-8C12-C81D93CD59D0}" presName="bgRect" presStyleLbl="bgShp" presStyleIdx="1" presStyleCnt="5"/>
      <dgm:spPr/>
    </dgm:pt>
    <dgm:pt modelId="{61192201-D341-43FD-91DB-7D91B6DB066A}" type="pres">
      <dgm:prSet presAssocID="{2455685C-565F-42BE-8C12-C81D93CD59D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248A492-021A-49B3-A7FB-D10D9ABC61A0}" type="pres">
      <dgm:prSet presAssocID="{2455685C-565F-42BE-8C12-C81D93CD59D0}" presName="spaceRect" presStyleCnt="0"/>
      <dgm:spPr/>
    </dgm:pt>
    <dgm:pt modelId="{C834311A-A01F-4950-8FB3-7748C2D011EB}" type="pres">
      <dgm:prSet presAssocID="{2455685C-565F-42BE-8C12-C81D93CD59D0}" presName="parTx" presStyleLbl="revTx" presStyleIdx="1" presStyleCnt="5">
        <dgm:presLayoutVars>
          <dgm:chMax val="0"/>
          <dgm:chPref val="0"/>
        </dgm:presLayoutVars>
      </dgm:prSet>
      <dgm:spPr/>
    </dgm:pt>
    <dgm:pt modelId="{B01C6FC7-FFF6-4D3F-8D31-48F306AAACBA}" type="pres">
      <dgm:prSet presAssocID="{65D012D2-A9C5-4F59-A2AD-8D8D4D25DFA1}" presName="sibTrans" presStyleCnt="0"/>
      <dgm:spPr/>
    </dgm:pt>
    <dgm:pt modelId="{8E29B298-1B42-4FA2-8AF1-4711574051BB}" type="pres">
      <dgm:prSet presAssocID="{842D8312-56AE-49B5-8326-ADC1B502D89E}" presName="compNode" presStyleCnt="0"/>
      <dgm:spPr/>
    </dgm:pt>
    <dgm:pt modelId="{7FAC5CA9-1D56-42B1-850D-1F33058DCCFC}" type="pres">
      <dgm:prSet presAssocID="{842D8312-56AE-49B5-8326-ADC1B502D89E}" presName="bgRect" presStyleLbl="bgShp" presStyleIdx="2" presStyleCnt="5"/>
      <dgm:spPr/>
    </dgm:pt>
    <dgm:pt modelId="{D55F2B27-347F-4C65-8AF4-F456DC9482B4}" type="pres">
      <dgm:prSet presAssocID="{842D8312-56AE-49B5-8326-ADC1B502D89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B541967-F84F-4C70-BF58-7D2F9F6E0418}" type="pres">
      <dgm:prSet presAssocID="{842D8312-56AE-49B5-8326-ADC1B502D89E}" presName="spaceRect" presStyleCnt="0"/>
      <dgm:spPr/>
    </dgm:pt>
    <dgm:pt modelId="{127B0449-B5C2-4B1C-A268-12B5A6D056B7}" type="pres">
      <dgm:prSet presAssocID="{842D8312-56AE-49B5-8326-ADC1B502D89E}" presName="parTx" presStyleLbl="revTx" presStyleIdx="2" presStyleCnt="5">
        <dgm:presLayoutVars>
          <dgm:chMax val="0"/>
          <dgm:chPref val="0"/>
        </dgm:presLayoutVars>
      </dgm:prSet>
      <dgm:spPr/>
    </dgm:pt>
    <dgm:pt modelId="{5704531D-8E2D-4728-9AC0-49B75B39470A}" type="pres">
      <dgm:prSet presAssocID="{12F74CA0-D436-47AB-93E9-ABBFDE94312F}" presName="sibTrans" presStyleCnt="0"/>
      <dgm:spPr/>
    </dgm:pt>
    <dgm:pt modelId="{71F84ED8-A016-40FA-B1B2-74C2CED294A1}" type="pres">
      <dgm:prSet presAssocID="{BE9A1AF0-A182-4EA2-A957-718E01BCBDAB}" presName="compNode" presStyleCnt="0"/>
      <dgm:spPr/>
    </dgm:pt>
    <dgm:pt modelId="{213CA15F-331B-4EE3-8EC9-3C96485F1069}" type="pres">
      <dgm:prSet presAssocID="{BE9A1AF0-A182-4EA2-A957-718E01BCBDAB}" presName="bgRect" presStyleLbl="bgShp" presStyleIdx="3" presStyleCnt="5"/>
      <dgm:spPr/>
    </dgm:pt>
    <dgm:pt modelId="{328A7D2A-BF50-4F49-A7F9-0E2CCE36DB25}" type="pres">
      <dgm:prSet presAssocID="{BE9A1AF0-A182-4EA2-A957-718E01BCBDA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prechaun Hat"/>
        </a:ext>
      </dgm:extLst>
    </dgm:pt>
    <dgm:pt modelId="{0046F77C-9BB1-45F0-8769-8E6D76575B99}" type="pres">
      <dgm:prSet presAssocID="{BE9A1AF0-A182-4EA2-A957-718E01BCBDAB}" presName="spaceRect" presStyleCnt="0"/>
      <dgm:spPr/>
    </dgm:pt>
    <dgm:pt modelId="{4D8C0A1E-FC2C-4D4E-8848-A7D93C242413}" type="pres">
      <dgm:prSet presAssocID="{BE9A1AF0-A182-4EA2-A957-718E01BCBDAB}" presName="parTx" presStyleLbl="revTx" presStyleIdx="3" presStyleCnt="5">
        <dgm:presLayoutVars>
          <dgm:chMax val="0"/>
          <dgm:chPref val="0"/>
        </dgm:presLayoutVars>
      </dgm:prSet>
      <dgm:spPr/>
    </dgm:pt>
    <dgm:pt modelId="{98A4F6B9-2987-4B69-B83B-2A2082CB6BF7}" type="pres">
      <dgm:prSet presAssocID="{A3472809-12EE-4E5E-BE6A-4B3D24CD59EE}" presName="sibTrans" presStyleCnt="0"/>
      <dgm:spPr/>
    </dgm:pt>
    <dgm:pt modelId="{D0130DE7-132E-4B16-BA7E-CE0182FB0F9D}" type="pres">
      <dgm:prSet presAssocID="{72F6FBCD-E7A4-4DA3-9879-295F4F014389}" presName="compNode" presStyleCnt="0"/>
      <dgm:spPr/>
    </dgm:pt>
    <dgm:pt modelId="{A708992A-EF04-4408-A871-262AEC1BE9A8}" type="pres">
      <dgm:prSet presAssocID="{72F6FBCD-E7A4-4DA3-9879-295F4F014389}" presName="bgRect" presStyleLbl="bgShp" presStyleIdx="4" presStyleCnt="5"/>
      <dgm:spPr/>
    </dgm:pt>
    <dgm:pt modelId="{ECF447A4-C444-4304-ABE9-FE83EB074758}" type="pres">
      <dgm:prSet presAssocID="{72F6FBCD-E7A4-4DA3-9879-295F4F01438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AE5223C-F3F8-4672-90F9-D5021C4828BF}" type="pres">
      <dgm:prSet presAssocID="{72F6FBCD-E7A4-4DA3-9879-295F4F014389}" presName="spaceRect" presStyleCnt="0"/>
      <dgm:spPr/>
    </dgm:pt>
    <dgm:pt modelId="{22A801F9-2B2D-419D-8F97-BAFAA6F0C5F6}" type="pres">
      <dgm:prSet presAssocID="{72F6FBCD-E7A4-4DA3-9879-295F4F01438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9AF5004-22AE-4128-A9FB-D3884061B4FA}" srcId="{5F3DF74E-4A3C-45C9-B2FE-1D32C4F7EC5B}" destId="{2455685C-565F-42BE-8C12-C81D93CD59D0}" srcOrd="1" destOrd="0" parTransId="{C4D8D129-9791-4186-A4CC-5E1D555E6EC2}" sibTransId="{65D012D2-A9C5-4F59-A2AD-8D8D4D25DFA1}"/>
    <dgm:cxn modelId="{6DD4F009-0727-4EBD-AD7D-02BB0BCA52E0}" srcId="{5F3DF74E-4A3C-45C9-B2FE-1D32C4F7EC5B}" destId="{BE9A1AF0-A182-4EA2-A957-718E01BCBDAB}" srcOrd="3" destOrd="0" parTransId="{975F94EA-811B-40FF-8D76-E315211B0B08}" sibTransId="{A3472809-12EE-4E5E-BE6A-4B3D24CD59EE}"/>
    <dgm:cxn modelId="{E06B231C-D1B6-4071-A836-47D40ED21F27}" type="presOf" srcId="{77F8E448-AA5C-4BF1-807B-B634AC1B1190}" destId="{9FE445F7-0F0F-416A-9AB9-D437FFF05252}" srcOrd="0" destOrd="0" presId="urn:microsoft.com/office/officeart/2018/2/layout/IconVerticalSolidList"/>
    <dgm:cxn modelId="{98D9FB39-C268-4E2A-ADA2-29807191497B}" type="presOf" srcId="{BE9A1AF0-A182-4EA2-A957-718E01BCBDAB}" destId="{4D8C0A1E-FC2C-4D4E-8848-A7D93C242413}" srcOrd="0" destOrd="0" presId="urn:microsoft.com/office/officeart/2018/2/layout/IconVerticalSolidList"/>
    <dgm:cxn modelId="{F67A4C7B-D32D-44DF-9AE1-78F93C877F11}" srcId="{5F3DF74E-4A3C-45C9-B2FE-1D32C4F7EC5B}" destId="{77F8E448-AA5C-4BF1-807B-B634AC1B1190}" srcOrd="0" destOrd="0" parTransId="{F5AA7D76-A846-4EB3-9E7C-EDD4E94C9600}" sibTransId="{91D6AE50-00B2-4639-865F-0E3D0CBA2DE5}"/>
    <dgm:cxn modelId="{1EB5C38E-7099-4C87-9928-B1303FC0CE40}" type="presOf" srcId="{2455685C-565F-42BE-8C12-C81D93CD59D0}" destId="{C834311A-A01F-4950-8FB3-7748C2D011EB}" srcOrd="0" destOrd="0" presId="urn:microsoft.com/office/officeart/2018/2/layout/IconVerticalSolidList"/>
    <dgm:cxn modelId="{7875C9A6-AEBC-4D72-9E63-087E826E93EF}" type="presOf" srcId="{842D8312-56AE-49B5-8326-ADC1B502D89E}" destId="{127B0449-B5C2-4B1C-A268-12B5A6D056B7}" srcOrd="0" destOrd="0" presId="urn:microsoft.com/office/officeart/2018/2/layout/IconVerticalSolidList"/>
    <dgm:cxn modelId="{D34E72AF-F30F-4921-88F5-A21A24151BBA}" srcId="{5F3DF74E-4A3C-45C9-B2FE-1D32C4F7EC5B}" destId="{72F6FBCD-E7A4-4DA3-9879-295F4F014389}" srcOrd="4" destOrd="0" parTransId="{D72AA798-87CB-46D7-8405-A96644CA56F2}" sibTransId="{96304D9A-079A-4CCF-A026-A25683D8A010}"/>
    <dgm:cxn modelId="{2D0796CA-B33C-48D3-BE97-2374EFE077F1}" type="presOf" srcId="{72F6FBCD-E7A4-4DA3-9879-295F4F014389}" destId="{22A801F9-2B2D-419D-8F97-BAFAA6F0C5F6}" srcOrd="0" destOrd="0" presId="urn:microsoft.com/office/officeart/2018/2/layout/IconVerticalSolidList"/>
    <dgm:cxn modelId="{0F993CD6-E99E-4059-AA9E-6C19EA41E20A}" type="presOf" srcId="{5F3DF74E-4A3C-45C9-B2FE-1D32C4F7EC5B}" destId="{2016F5AF-A9AC-4B58-8402-00B422C58991}" srcOrd="0" destOrd="0" presId="urn:microsoft.com/office/officeart/2018/2/layout/IconVerticalSolidList"/>
    <dgm:cxn modelId="{059503F7-B2D1-471B-91A3-46D856DC628C}" srcId="{5F3DF74E-4A3C-45C9-B2FE-1D32C4F7EC5B}" destId="{842D8312-56AE-49B5-8326-ADC1B502D89E}" srcOrd="2" destOrd="0" parTransId="{12DDEF11-B667-4DC0-93CC-4E93F9CC3610}" sibTransId="{12F74CA0-D436-47AB-93E9-ABBFDE94312F}"/>
    <dgm:cxn modelId="{19FD9B4A-DE9E-4ACC-8CA8-58D22641AECB}" type="presParOf" srcId="{2016F5AF-A9AC-4B58-8402-00B422C58991}" destId="{06A80E52-1171-47CC-ACE6-832DA4D329A0}" srcOrd="0" destOrd="0" presId="urn:microsoft.com/office/officeart/2018/2/layout/IconVerticalSolidList"/>
    <dgm:cxn modelId="{67CC72E1-2D79-492A-9FD4-647FEEF0FE32}" type="presParOf" srcId="{06A80E52-1171-47CC-ACE6-832DA4D329A0}" destId="{1610F253-2EF2-42EF-A556-4E1CE9BC888F}" srcOrd="0" destOrd="0" presId="urn:microsoft.com/office/officeart/2018/2/layout/IconVerticalSolidList"/>
    <dgm:cxn modelId="{3DC2375B-971E-4FA4-A924-01BB95A0B522}" type="presParOf" srcId="{06A80E52-1171-47CC-ACE6-832DA4D329A0}" destId="{51106806-0639-4922-9E4F-27791D7D0E08}" srcOrd="1" destOrd="0" presId="urn:microsoft.com/office/officeart/2018/2/layout/IconVerticalSolidList"/>
    <dgm:cxn modelId="{30E41055-A75E-4A78-A360-A8CAA052FBE8}" type="presParOf" srcId="{06A80E52-1171-47CC-ACE6-832DA4D329A0}" destId="{36108261-1B28-4512-99B7-E8B8489F5615}" srcOrd="2" destOrd="0" presId="urn:microsoft.com/office/officeart/2018/2/layout/IconVerticalSolidList"/>
    <dgm:cxn modelId="{F61E33B6-7C65-40E0-9E7B-9CEE2C2EB4A2}" type="presParOf" srcId="{06A80E52-1171-47CC-ACE6-832DA4D329A0}" destId="{9FE445F7-0F0F-416A-9AB9-D437FFF05252}" srcOrd="3" destOrd="0" presId="urn:microsoft.com/office/officeart/2018/2/layout/IconVerticalSolidList"/>
    <dgm:cxn modelId="{AC516F59-A8E2-4C47-A848-2F8957EFCCAF}" type="presParOf" srcId="{2016F5AF-A9AC-4B58-8402-00B422C58991}" destId="{B3694998-8ED4-44B7-9B86-5EF95A26A1B9}" srcOrd="1" destOrd="0" presId="urn:microsoft.com/office/officeart/2018/2/layout/IconVerticalSolidList"/>
    <dgm:cxn modelId="{EFBE22BA-9874-465D-9FE9-0898101A0764}" type="presParOf" srcId="{2016F5AF-A9AC-4B58-8402-00B422C58991}" destId="{73808C97-2052-49A7-B1AE-C541A42EEDBC}" srcOrd="2" destOrd="0" presId="urn:microsoft.com/office/officeart/2018/2/layout/IconVerticalSolidList"/>
    <dgm:cxn modelId="{1772BA27-F4BD-4F4A-B85C-D6DD81082209}" type="presParOf" srcId="{73808C97-2052-49A7-B1AE-C541A42EEDBC}" destId="{D1E7CB8B-0960-43D9-B341-A903B4303B7E}" srcOrd="0" destOrd="0" presId="urn:microsoft.com/office/officeart/2018/2/layout/IconVerticalSolidList"/>
    <dgm:cxn modelId="{339142BF-304A-438B-9170-28282FCA49D1}" type="presParOf" srcId="{73808C97-2052-49A7-B1AE-C541A42EEDBC}" destId="{61192201-D341-43FD-91DB-7D91B6DB066A}" srcOrd="1" destOrd="0" presId="urn:microsoft.com/office/officeart/2018/2/layout/IconVerticalSolidList"/>
    <dgm:cxn modelId="{91B9D85B-5AD3-45DC-B5D3-FC2B61705003}" type="presParOf" srcId="{73808C97-2052-49A7-B1AE-C541A42EEDBC}" destId="{2248A492-021A-49B3-A7FB-D10D9ABC61A0}" srcOrd="2" destOrd="0" presId="urn:microsoft.com/office/officeart/2018/2/layout/IconVerticalSolidList"/>
    <dgm:cxn modelId="{C86CD788-9E05-4874-ADD6-038374232B45}" type="presParOf" srcId="{73808C97-2052-49A7-B1AE-C541A42EEDBC}" destId="{C834311A-A01F-4950-8FB3-7748C2D011EB}" srcOrd="3" destOrd="0" presId="urn:microsoft.com/office/officeart/2018/2/layout/IconVerticalSolidList"/>
    <dgm:cxn modelId="{76A630C9-93CF-4540-970F-7589817279CF}" type="presParOf" srcId="{2016F5AF-A9AC-4B58-8402-00B422C58991}" destId="{B01C6FC7-FFF6-4D3F-8D31-48F306AAACBA}" srcOrd="3" destOrd="0" presId="urn:microsoft.com/office/officeart/2018/2/layout/IconVerticalSolidList"/>
    <dgm:cxn modelId="{695A3A6A-CFE7-4CA1-B063-ED5A4219F036}" type="presParOf" srcId="{2016F5AF-A9AC-4B58-8402-00B422C58991}" destId="{8E29B298-1B42-4FA2-8AF1-4711574051BB}" srcOrd="4" destOrd="0" presId="urn:microsoft.com/office/officeart/2018/2/layout/IconVerticalSolidList"/>
    <dgm:cxn modelId="{2EAF7636-422A-4E0B-8AD6-3A9E420C116E}" type="presParOf" srcId="{8E29B298-1B42-4FA2-8AF1-4711574051BB}" destId="{7FAC5CA9-1D56-42B1-850D-1F33058DCCFC}" srcOrd="0" destOrd="0" presId="urn:microsoft.com/office/officeart/2018/2/layout/IconVerticalSolidList"/>
    <dgm:cxn modelId="{E3CB4660-747E-4487-AF14-CCBF79D61795}" type="presParOf" srcId="{8E29B298-1B42-4FA2-8AF1-4711574051BB}" destId="{D55F2B27-347F-4C65-8AF4-F456DC9482B4}" srcOrd="1" destOrd="0" presId="urn:microsoft.com/office/officeart/2018/2/layout/IconVerticalSolidList"/>
    <dgm:cxn modelId="{5D4601A1-D3C3-4B7A-B9B6-7A95A646E961}" type="presParOf" srcId="{8E29B298-1B42-4FA2-8AF1-4711574051BB}" destId="{9B541967-F84F-4C70-BF58-7D2F9F6E0418}" srcOrd="2" destOrd="0" presId="urn:microsoft.com/office/officeart/2018/2/layout/IconVerticalSolidList"/>
    <dgm:cxn modelId="{CD081A9A-AE61-4350-A408-78B34AD9ABDD}" type="presParOf" srcId="{8E29B298-1B42-4FA2-8AF1-4711574051BB}" destId="{127B0449-B5C2-4B1C-A268-12B5A6D056B7}" srcOrd="3" destOrd="0" presId="urn:microsoft.com/office/officeart/2018/2/layout/IconVerticalSolidList"/>
    <dgm:cxn modelId="{066F3BCE-C86D-4259-B063-A44A4003FDCF}" type="presParOf" srcId="{2016F5AF-A9AC-4B58-8402-00B422C58991}" destId="{5704531D-8E2D-4728-9AC0-49B75B39470A}" srcOrd="5" destOrd="0" presId="urn:microsoft.com/office/officeart/2018/2/layout/IconVerticalSolidList"/>
    <dgm:cxn modelId="{B9D889BD-D038-470B-92A0-5836354B4208}" type="presParOf" srcId="{2016F5AF-A9AC-4B58-8402-00B422C58991}" destId="{71F84ED8-A016-40FA-B1B2-74C2CED294A1}" srcOrd="6" destOrd="0" presId="urn:microsoft.com/office/officeart/2018/2/layout/IconVerticalSolidList"/>
    <dgm:cxn modelId="{3FEDB3E8-468C-48B0-A14A-973105B70477}" type="presParOf" srcId="{71F84ED8-A016-40FA-B1B2-74C2CED294A1}" destId="{213CA15F-331B-4EE3-8EC9-3C96485F1069}" srcOrd="0" destOrd="0" presId="urn:microsoft.com/office/officeart/2018/2/layout/IconVerticalSolidList"/>
    <dgm:cxn modelId="{DB5D32F5-D58B-43CA-9314-AA195F0A207B}" type="presParOf" srcId="{71F84ED8-A016-40FA-B1B2-74C2CED294A1}" destId="{328A7D2A-BF50-4F49-A7F9-0E2CCE36DB25}" srcOrd="1" destOrd="0" presId="urn:microsoft.com/office/officeart/2018/2/layout/IconVerticalSolidList"/>
    <dgm:cxn modelId="{B3DA8B6F-B206-4608-956D-9EC2D897D358}" type="presParOf" srcId="{71F84ED8-A016-40FA-B1B2-74C2CED294A1}" destId="{0046F77C-9BB1-45F0-8769-8E6D76575B99}" srcOrd="2" destOrd="0" presId="urn:microsoft.com/office/officeart/2018/2/layout/IconVerticalSolidList"/>
    <dgm:cxn modelId="{D6D8E038-B025-4952-BB5A-BEDCF92045F9}" type="presParOf" srcId="{71F84ED8-A016-40FA-B1B2-74C2CED294A1}" destId="{4D8C0A1E-FC2C-4D4E-8848-A7D93C242413}" srcOrd="3" destOrd="0" presId="urn:microsoft.com/office/officeart/2018/2/layout/IconVerticalSolidList"/>
    <dgm:cxn modelId="{271B8694-A44C-4B9B-B494-2601B38F0D86}" type="presParOf" srcId="{2016F5AF-A9AC-4B58-8402-00B422C58991}" destId="{98A4F6B9-2987-4B69-B83B-2A2082CB6BF7}" srcOrd="7" destOrd="0" presId="urn:microsoft.com/office/officeart/2018/2/layout/IconVerticalSolidList"/>
    <dgm:cxn modelId="{3238E099-CDD5-4B95-B4EE-94928728F520}" type="presParOf" srcId="{2016F5AF-A9AC-4B58-8402-00B422C58991}" destId="{D0130DE7-132E-4B16-BA7E-CE0182FB0F9D}" srcOrd="8" destOrd="0" presId="urn:microsoft.com/office/officeart/2018/2/layout/IconVerticalSolidList"/>
    <dgm:cxn modelId="{BDD6BC14-76D4-4B25-A4E8-3C27E995C025}" type="presParOf" srcId="{D0130DE7-132E-4B16-BA7E-CE0182FB0F9D}" destId="{A708992A-EF04-4408-A871-262AEC1BE9A8}" srcOrd="0" destOrd="0" presId="urn:microsoft.com/office/officeart/2018/2/layout/IconVerticalSolidList"/>
    <dgm:cxn modelId="{D0B10A4B-97D6-4658-A97B-524621E05B3D}" type="presParOf" srcId="{D0130DE7-132E-4B16-BA7E-CE0182FB0F9D}" destId="{ECF447A4-C444-4304-ABE9-FE83EB074758}" srcOrd="1" destOrd="0" presId="urn:microsoft.com/office/officeart/2018/2/layout/IconVerticalSolidList"/>
    <dgm:cxn modelId="{437D1109-8410-4912-AD4D-EE14E0118FAD}" type="presParOf" srcId="{D0130DE7-132E-4B16-BA7E-CE0182FB0F9D}" destId="{CAE5223C-F3F8-4672-90F9-D5021C4828BF}" srcOrd="2" destOrd="0" presId="urn:microsoft.com/office/officeart/2018/2/layout/IconVerticalSolidList"/>
    <dgm:cxn modelId="{5460E277-F42E-4C1F-BDAD-25C9104844A0}" type="presParOf" srcId="{D0130DE7-132E-4B16-BA7E-CE0182FB0F9D}" destId="{22A801F9-2B2D-419D-8F97-BAFAA6F0C5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0F253-2EF2-42EF-A556-4E1CE9BC888F}">
      <dsp:nvSpPr>
        <dsp:cNvPr id="0" name=""/>
        <dsp:cNvSpPr/>
      </dsp:nvSpPr>
      <dsp:spPr>
        <a:xfrm>
          <a:off x="0" y="3448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06806-0639-4922-9E4F-27791D7D0E08}">
      <dsp:nvSpPr>
        <dsp:cNvPr id="0" name=""/>
        <dsp:cNvSpPr/>
      </dsp:nvSpPr>
      <dsp:spPr>
        <a:xfrm>
          <a:off x="222209" y="168728"/>
          <a:ext cx="404016" cy="4040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445F7-0F0F-416A-9AB9-D437FFF05252}">
      <dsp:nvSpPr>
        <dsp:cNvPr id="0" name=""/>
        <dsp:cNvSpPr/>
      </dsp:nvSpPr>
      <dsp:spPr>
        <a:xfrm>
          <a:off x="848435" y="3448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goal was to develop a system that estimates win probabilities for any specific match-up.</a:t>
          </a:r>
          <a:endParaRPr lang="en-US" sz="1800" kern="1200"/>
        </a:p>
      </dsp:txBody>
      <dsp:txXfrm>
        <a:off x="848435" y="3448"/>
        <a:ext cx="10096601" cy="734576"/>
      </dsp:txXfrm>
    </dsp:sp>
    <dsp:sp modelId="{D1E7CB8B-0960-43D9-B341-A903B4303B7E}">
      <dsp:nvSpPr>
        <dsp:cNvPr id="0" name=""/>
        <dsp:cNvSpPr/>
      </dsp:nvSpPr>
      <dsp:spPr>
        <a:xfrm>
          <a:off x="0" y="921668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92201-D341-43FD-91DB-7D91B6DB066A}">
      <dsp:nvSpPr>
        <dsp:cNvPr id="0" name=""/>
        <dsp:cNvSpPr/>
      </dsp:nvSpPr>
      <dsp:spPr>
        <a:xfrm>
          <a:off x="222209" y="1086948"/>
          <a:ext cx="404016" cy="4040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4311A-A01F-4950-8FB3-7748C2D011EB}">
      <dsp:nvSpPr>
        <dsp:cNvPr id="0" name=""/>
        <dsp:cNvSpPr/>
      </dsp:nvSpPr>
      <dsp:spPr>
        <a:xfrm>
          <a:off x="848435" y="921668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We created a custom performance score using Expected Goals, Expected Goals Against, and Shots on Target.</a:t>
          </a:r>
          <a:endParaRPr lang="en-US" sz="1800" kern="1200"/>
        </a:p>
      </dsp:txBody>
      <dsp:txXfrm>
        <a:off x="848435" y="921668"/>
        <a:ext cx="10096601" cy="734576"/>
      </dsp:txXfrm>
    </dsp:sp>
    <dsp:sp modelId="{7FAC5CA9-1D56-42B1-850D-1F33058DCCFC}">
      <dsp:nvSpPr>
        <dsp:cNvPr id="0" name=""/>
        <dsp:cNvSpPr/>
      </dsp:nvSpPr>
      <dsp:spPr>
        <a:xfrm>
          <a:off x="0" y="1839888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F2B27-347F-4C65-8AF4-F456DC9482B4}">
      <dsp:nvSpPr>
        <dsp:cNvPr id="0" name=""/>
        <dsp:cNvSpPr/>
      </dsp:nvSpPr>
      <dsp:spPr>
        <a:xfrm>
          <a:off x="222209" y="2005168"/>
          <a:ext cx="404016" cy="4040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B0449-B5C2-4B1C-A268-12B5A6D056B7}">
      <dsp:nvSpPr>
        <dsp:cNvPr id="0" name=""/>
        <dsp:cNvSpPr/>
      </dsp:nvSpPr>
      <dsp:spPr>
        <a:xfrm>
          <a:off x="848435" y="1839888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Functions for performance score of a team and win probability of a team were defined as main models for getting results. </a:t>
          </a:r>
          <a:endParaRPr lang="en-US" sz="1800" kern="1200" dirty="0"/>
        </a:p>
      </dsp:txBody>
      <dsp:txXfrm>
        <a:off x="848435" y="1839888"/>
        <a:ext cx="10096601" cy="734576"/>
      </dsp:txXfrm>
    </dsp:sp>
    <dsp:sp modelId="{213CA15F-331B-4EE3-8EC9-3C96485F1069}">
      <dsp:nvSpPr>
        <dsp:cNvPr id="0" name=""/>
        <dsp:cNvSpPr/>
      </dsp:nvSpPr>
      <dsp:spPr>
        <a:xfrm>
          <a:off x="0" y="2758109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8A7D2A-BF50-4F49-A7F9-0E2CCE36DB25}">
      <dsp:nvSpPr>
        <dsp:cNvPr id="0" name=""/>
        <dsp:cNvSpPr/>
      </dsp:nvSpPr>
      <dsp:spPr>
        <a:xfrm>
          <a:off x="222209" y="2923388"/>
          <a:ext cx="404016" cy="4040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C0A1E-FC2C-4D4E-8848-A7D93C242413}">
      <dsp:nvSpPr>
        <dsp:cNvPr id="0" name=""/>
        <dsp:cNvSpPr/>
      </dsp:nvSpPr>
      <dsp:spPr>
        <a:xfrm>
          <a:off x="848435" y="2758109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We tested the model on an Aston Villa Club and also checked by hand result against Liverpool to analyze if model satisfies calculation.</a:t>
          </a:r>
          <a:endParaRPr lang="en-US" sz="1800" kern="1200" dirty="0"/>
        </a:p>
      </dsp:txBody>
      <dsp:txXfrm>
        <a:off x="848435" y="2758109"/>
        <a:ext cx="10096601" cy="734576"/>
      </dsp:txXfrm>
    </dsp:sp>
    <dsp:sp modelId="{A708992A-EF04-4408-A871-262AEC1BE9A8}">
      <dsp:nvSpPr>
        <dsp:cNvPr id="0" name=""/>
        <dsp:cNvSpPr/>
      </dsp:nvSpPr>
      <dsp:spPr>
        <a:xfrm>
          <a:off x="0" y="3676329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447A4-C444-4304-ABE9-FE83EB074758}">
      <dsp:nvSpPr>
        <dsp:cNvPr id="0" name=""/>
        <dsp:cNvSpPr/>
      </dsp:nvSpPr>
      <dsp:spPr>
        <a:xfrm>
          <a:off x="222209" y="3841608"/>
          <a:ext cx="404016" cy="4040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801F9-2B2D-419D-8F97-BAFAA6F0C5F6}">
      <dsp:nvSpPr>
        <dsp:cNvPr id="0" name=""/>
        <dsp:cNvSpPr/>
      </dsp:nvSpPr>
      <dsp:spPr>
        <a:xfrm>
          <a:off x="848435" y="3676329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Results were given in histogram form with Aston Villa estimated win probability against sample of teams and team performance of each team.</a:t>
          </a:r>
          <a:endParaRPr lang="en-US" sz="1800" kern="1200" dirty="0"/>
        </a:p>
      </dsp:txBody>
      <dsp:txXfrm>
        <a:off x="848435" y="3676329"/>
        <a:ext cx="10096601" cy="7345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0F253-2EF2-42EF-A556-4E1CE9BC888F}">
      <dsp:nvSpPr>
        <dsp:cNvPr id="0" name=""/>
        <dsp:cNvSpPr/>
      </dsp:nvSpPr>
      <dsp:spPr>
        <a:xfrm>
          <a:off x="0" y="3448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06806-0639-4922-9E4F-27791D7D0E08}">
      <dsp:nvSpPr>
        <dsp:cNvPr id="0" name=""/>
        <dsp:cNvSpPr/>
      </dsp:nvSpPr>
      <dsp:spPr>
        <a:xfrm>
          <a:off x="222209" y="168728"/>
          <a:ext cx="404016" cy="4040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445F7-0F0F-416A-9AB9-D437FFF05252}">
      <dsp:nvSpPr>
        <dsp:cNvPr id="0" name=""/>
        <dsp:cNvSpPr/>
      </dsp:nvSpPr>
      <dsp:spPr>
        <a:xfrm>
          <a:off x="848435" y="3448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The goal was to develop a system that predicts team probability using more advanced model – Test/Train Model (80/20).</a:t>
          </a:r>
          <a:endParaRPr lang="en-US" sz="1800" kern="1200" dirty="0"/>
        </a:p>
      </dsp:txBody>
      <dsp:txXfrm>
        <a:off x="848435" y="3448"/>
        <a:ext cx="10096601" cy="734576"/>
      </dsp:txXfrm>
    </dsp:sp>
    <dsp:sp modelId="{D1E7CB8B-0960-43D9-B341-A903B4303B7E}">
      <dsp:nvSpPr>
        <dsp:cNvPr id="0" name=""/>
        <dsp:cNvSpPr/>
      </dsp:nvSpPr>
      <dsp:spPr>
        <a:xfrm>
          <a:off x="0" y="921668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92201-D341-43FD-91DB-7D91B6DB066A}">
      <dsp:nvSpPr>
        <dsp:cNvPr id="0" name=""/>
        <dsp:cNvSpPr/>
      </dsp:nvSpPr>
      <dsp:spPr>
        <a:xfrm>
          <a:off x="222209" y="1086948"/>
          <a:ext cx="404016" cy="4040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4311A-A01F-4950-8FB3-7748C2D011EB}">
      <dsp:nvSpPr>
        <dsp:cNvPr id="0" name=""/>
        <dsp:cNvSpPr/>
      </dsp:nvSpPr>
      <dsp:spPr>
        <a:xfrm>
          <a:off x="848435" y="921668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Idea is similar like in Case 1, but here we take 80% of data as train model and record 20% of data as test model and compare with actual values.</a:t>
          </a:r>
        </a:p>
      </dsp:txBody>
      <dsp:txXfrm>
        <a:off x="848435" y="921668"/>
        <a:ext cx="10096601" cy="734576"/>
      </dsp:txXfrm>
    </dsp:sp>
    <dsp:sp modelId="{7FAC5CA9-1D56-42B1-850D-1F33058DCCFC}">
      <dsp:nvSpPr>
        <dsp:cNvPr id="0" name=""/>
        <dsp:cNvSpPr/>
      </dsp:nvSpPr>
      <dsp:spPr>
        <a:xfrm>
          <a:off x="0" y="1839888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F2B27-347F-4C65-8AF4-F456DC9482B4}">
      <dsp:nvSpPr>
        <dsp:cNvPr id="0" name=""/>
        <dsp:cNvSpPr/>
      </dsp:nvSpPr>
      <dsp:spPr>
        <a:xfrm>
          <a:off x="222209" y="2005168"/>
          <a:ext cx="404016" cy="4040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B0449-B5C2-4B1C-A268-12B5A6D056B7}">
      <dsp:nvSpPr>
        <dsp:cNvPr id="0" name=""/>
        <dsp:cNvSpPr/>
      </dsp:nvSpPr>
      <dsp:spPr>
        <a:xfrm>
          <a:off x="848435" y="1839888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 accuracy - out of all matches model predicts correct outcome in 65.06%, which is better than random guessing (50%).</a:t>
          </a:r>
        </a:p>
      </dsp:txBody>
      <dsp:txXfrm>
        <a:off x="848435" y="1839888"/>
        <a:ext cx="10096601" cy="734576"/>
      </dsp:txXfrm>
    </dsp:sp>
    <dsp:sp modelId="{213CA15F-331B-4EE3-8EC9-3C96485F1069}">
      <dsp:nvSpPr>
        <dsp:cNvPr id="0" name=""/>
        <dsp:cNvSpPr/>
      </dsp:nvSpPr>
      <dsp:spPr>
        <a:xfrm>
          <a:off x="0" y="2758109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8A7D2A-BF50-4F49-A7F9-0E2CCE36DB25}">
      <dsp:nvSpPr>
        <dsp:cNvPr id="0" name=""/>
        <dsp:cNvSpPr/>
      </dsp:nvSpPr>
      <dsp:spPr>
        <a:xfrm>
          <a:off x="222209" y="2923388"/>
          <a:ext cx="404016" cy="4040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C0A1E-FC2C-4D4E-8848-A7D93C242413}">
      <dsp:nvSpPr>
        <dsp:cNvPr id="0" name=""/>
        <dsp:cNvSpPr/>
      </dsp:nvSpPr>
      <dsp:spPr>
        <a:xfrm>
          <a:off x="848435" y="2758109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For Aston Villa case, model was correct in 52%, which is expected as this team is solid team, usually in the middle of a table, so prediction is more difficult.</a:t>
          </a:r>
          <a:endParaRPr lang="en-US" sz="1800" kern="1200" dirty="0"/>
        </a:p>
      </dsp:txBody>
      <dsp:txXfrm>
        <a:off x="848435" y="2758109"/>
        <a:ext cx="10096601" cy="734576"/>
      </dsp:txXfrm>
    </dsp:sp>
    <dsp:sp modelId="{A708992A-EF04-4408-A871-262AEC1BE9A8}">
      <dsp:nvSpPr>
        <dsp:cNvPr id="0" name=""/>
        <dsp:cNvSpPr/>
      </dsp:nvSpPr>
      <dsp:spPr>
        <a:xfrm>
          <a:off x="0" y="3676329"/>
          <a:ext cx="10945037" cy="7345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447A4-C444-4304-ABE9-FE83EB074758}">
      <dsp:nvSpPr>
        <dsp:cNvPr id="0" name=""/>
        <dsp:cNvSpPr/>
      </dsp:nvSpPr>
      <dsp:spPr>
        <a:xfrm>
          <a:off x="222209" y="3841608"/>
          <a:ext cx="404016" cy="4040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801F9-2B2D-419D-8F97-BAFAA6F0C5F6}">
      <dsp:nvSpPr>
        <dsp:cNvPr id="0" name=""/>
        <dsp:cNvSpPr/>
      </dsp:nvSpPr>
      <dsp:spPr>
        <a:xfrm>
          <a:off x="848435" y="3676329"/>
          <a:ext cx="10096601" cy="73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743" tIns="77743" rIns="77743" bIns="7774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Interpretation of the results - </a:t>
          </a:r>
          <a:r>
            <a:rPr lang="en-GB" sz="1800" b="0" i="0" u="none" kern="1200" dirty="0"/>
            <a:t>if the bar from 0.1–0.2 on the x-axis has a height of 5, it means there are 5 matches where the model predicted a 10–20% chance of Aston Villa winning.</a:t>
          </a:r>
          <a:endParaRPr lang="en-US" sz="1800" kern="1200" dirty="0"/>
        </a:p>
      </dsp:txBody>
      <dsp:txXfrm>
        <a:off x="848435" y="3676329"/>
        <a:ext cx="10096601" cy="7345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6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2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6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3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8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1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7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7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89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2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0" r:id="rId6"/>
    <p:sldLayoutId id="2147483776" r:id="rId7"/>
    <p:sldLayoutId id="2147483777" r:id="rId8"/>
    <p:sldLayoutId id="2147483778" r:id="rId9"/>
    <p:sldLayoutId id="2147483779" r:id="rId10"/>
    <p:sldLayoutId id="214748378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B90893B6-E5BD-E67C-9B4C-9AC6A5387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61" r="9091" b="16961"/>
          <a:stretch>
            <a:fillRect/>
          </a:stretch>
        </p:blipFill>
        <p:spPr>
          <a:xfrm>
            <a:off x="20" y="0"/>
            <a:ext cx="12191980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23E09-AEC5-6A0F-7F27-8F18045E3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854" y="1904999"/>
            <a:ext cx="6776774" cy="2214717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Premier League Data Analysis &amp; Prediction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9155C-7D74-58B0-7C43-10B85141C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457" y="4906297"/>
            <a:ext cx="4741497" cy="1323253"/>
          </a:xfrm>
        </p:spPr>
        <p:txBody>
          <a:bodyPr>
            <a:normAutofit/>
          </a:bodyPr>
          <a:lstStyle/>
          <a:p>
            <a:pPr algn="l"/>
            <a:r>
              <a:rPr lang="bs-Latn-BA" sz="1400" dirty="0">
                <a:solidFill>
                  <a:srgbClr val="FFFFFF"/>
                </a:solidFill>
              </a:rPr>
              <a:t>Haris Šuta</a:t>
            </a:r>
          </a:p>
          <a:p>
            <a:pPr algn="l"/>
            <a:r>
              <a:rPr lang="bs-Latn-BA" sz="1400" dirty="0">
                <a:solidFill>
                  <a:srgbClr val="FFFFFF"/>
                </a:solidFill>
              </a:rPr>
              <a:t>Vedad Kruho</a:t>
            </a:r>
          </a:p>
          <a:p>
            <a:pPr algn="l"/>
            <a:r>
              <a:rPr lang="bs-Latn-BA" sz="1400" dirty="0">
                <a:solidFill>
                  <a:srgbClr val="FFFFFF"/>
                </a:solidFill>
              </a:rPr>
              <a:t>Faris Balić</a:t>
            </a:r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44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EEF5E-7DD1-B5B7-558B-0C8581B4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245" y="92225"/>
            <a:ext cx="3820296" cy="792680"/>
          </a:xfrm>
        </p:spPr>
        <p:txBody>
          <a:bodyPr anchor="b">
            <a:normAutofit/>
          </a:bodyPr>
          <a:lstStyle/>
          <a:p>
            <a:r>
              <a:rPr lang="bs-Latn-BA" dirty="0"/>
              <a:t>Introduction:</a:t>
            </a:r>
            <a:endParaRPr lang="en-US" dirty="0"/>
          </a:p>
        </p:txBody>
      </p:sp>
      <p:pic>
        <p:nvPicPr>
          <p:cNvPr id="6" name="Picture 5" descr="Lone red seat against blue seats in stadium">
            <a:extLst>
              <a:ext uri="{FF2B5EF4-FFF2-40B4-BE49-F238E27FC236}">
                <a16:creationId xmlns:a16="http://schemas.microsoft.com/office/drawing/2014/main" id="{79BB61BF-85C5-D984-AD6B-63BD163E02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82" r="19065" b="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4946120-023A-5886-583F-EC812A10AC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1477" y="977129"/>
            <a:ext cx="5486399" cy="56104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analyzed a comprehensive dataset covering the last five seasons of the Premier League.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initial phase involved intensive data cleaning to ensure the reliability of all results.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verified statistical anomalies, such as the record-breaking 7.0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the Liverpool vs. Newcastle match.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Our team corrected formatting errors in formations and removed redundant data columns.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engineered new performance metrics, including goal difference and numerical encoding for venues and results.</a:t>
            </a:r>
          </a:p>
        </p:txBody>
      </p:sp>
    </p:spTree>
    <p:extLst>
      <p:ext uri="{BB962C8B-B14F-4D97-AF65-F5344CB8AC3E}">
        <p14:creationId xmlns:p14="http://schemas.microsoft.com/office/powerpoint/2010/main" val="421025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3962C-9247-D5D7-2FF5-803EB866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Predictive Modeling (Python) – Case 1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E2E1100-C89B-81C7-B306-9BF1AD10A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735502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5005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1A8767C-1095-497D-139F-B5E5F9492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6E78A-23C3-2F92-1C9F-038D50A5D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61" y="745067"/>
            <a:ext cx="11402404" cy="1312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Python output example – Case 1: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BB1F5166-F6D0-7EBE-4413-BA21CCAD5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177" y="2797771"/>
            <a:ext cx="3586578" cy="33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3EC1BEB-C398-5867-C94B-04186B91B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5715" y="2772375"/>
            <a:ext cx="4291471" cy="33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B4EC7181-3E44-BF52-44AB-F90B037100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21303" y="2873828"/>
            <a:ext cx="4234124" cy="323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62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65302-D6D9-80D9-F2BE-75C8203C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78494-F5D4-A1E9-ADB0-BAC448E5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92C89-4A8A-88F9-92F5-A605E61A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Train/Test Modeling (Python) – Case 2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6CB8C7E-8D97-33CE-6BEE-913FE3F3A5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117022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677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484FE-178F-C53F-4A06-4DA717E7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3082">
            <a:extLst>
              <a:ext uri="{FF2B5EF4-FFF2-40B4-BE49-F238E27FC236}">
                <a16:creationId xmlns:a16="http://schemas.microsoft.com/office/drawing/2014/main" id="{84AAEF9B-125B-3298-22D4-B353CCE07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86B5F-02F1-CD75-22B7-A15DE3E4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61" y="745067"/>
            <a:ext cx="11402404" cy="1312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Python output example – Case 2:</a:t>
            </a:r>
          </a:p>
        </p:txBody>
      </p:sp>
      <p:pic>
        <p:nvPicPr>
          <p:cNvPr id="5" name="Content Placeholder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D6C69D3-CAE5-9C3C-2621-6FF7ADF3B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361" y="2839043"/>
            <a:ext cx="3731436" cy="636202"/>
          </a:xfrm>
          <a:prstGeom prst="rect">
            <a:avLst/>
          </a:prstGeom>
        </p:spPr>
      </p:pic>
      <p:pic>
        <p:nvPicPr>
          <p:cNvPr id="7" name="Picture 6" descr="A graph of blue bars&#10;&#10;AI-generated content may be incorrect.">
            <a:extLst>
              <a:ext uri="{FF2B5EF4-FFF2-40B4-BE49-F238E27FC236}">
                <a16:creationId xmlns:a16="http://schemas.microsoft.com/office/drawing/2014/main" id="{85680D10-3FBD-8E09-F4DA-E2E4D3D7B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895" y="2134486"/>
            <a:ext cx="5696006" cy="432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1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E34EC-3D8E-D165-CF81-1D60D4E8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7100" y="0"/>
            <a:ext cx="6097602" cy="943942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Descriptive Analysis (Excel)</a:t>
            </a:r>
          </a:p>
        </p:txBody>
      </p:sp>
      <p:pic>
        <p:nvPicPr>
          <p:cNvPr id="6" name="Picture 5" descr="Magnifying glass showing decling performance">
            <a:extLst>
              <a:ext uri="{FF2B5EF4-FFF2-40B4-BE49-F238E27FC236}">
                <a16:creationId xmlns:a16="http://schemas.microsoft.com/office/drawing/2014/main" id="{C8669B2F-7B80-B8EB-8698-E78FCD57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22" r="41385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7B3CFBB-D1C9-9158-0233-E73996B612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77816" y="1266092"/>
            <a:ext cx="5916169" cy="54562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identified tactical trends and correlations within the league data using Excel.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analysis investigated the relationship between possession percentages and match outcomes.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quantified the statistical impact of the "Home Advantage" across multiple seasons.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Our research evaluated which formations lead to the lowest Expected Goals Against.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Pivot tables were utilized to aggregate team statistics and compare seasonal performance trends.</a:t>
            </a:r>
          </a:p>
        </p:txBody>
      </p:sp>
    </p:spTree>
    <p:extLst>
      <p:ext uri="{BB962C8B-B14F-4D97-AF65-F5344CB8AC3E}">
        <p14:creationId xmlns:p14="http://schemas.microsoft.com/office/powerpoint/2010/main" val="371716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F4751-557C-D7E9-377D-DFFC14A7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Win average per team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C607EF-3CD9-C419-2BEA-EA9353C56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187652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107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CF91-2D55-6E44-1665-6EEEA8781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61" y="145517"/>
            <a:ext cx="12002139" cy="650896"/>
          </a:xfrm>
        </p:spPr>
        <p:txBody>
          <a:bodyPr>
            <a:normAutofit fontScale="90000"/>
          </a:bodyPr>
          <a:lstStyle/>
          <a:p>
            <a:r>
              <a:rPr lang="en-US" dirty="0"/>
              <a:t>Average goals per team</a:t>
            </a:r>
            <a:r>
              <a:rPr lang="bs-Latn-BA" dirty="0"/>
              <a:t> &amp; </a:t>
            </a:r>
            <a:r>
              <a:rPr lang="en-US" dirty="0"/>
              <a:t>Goals for</a:t>
            </a:r>
            <a:r>
              <a:rPr lang="bs-Latn-BA" dirty="0"/>
              <a:t> </a:t>
            </a:r>
            <a:r>
              <a:rPr lang="en-US" dirty="0" err="1"/>
              <a:t>xg</a:t>
            </a:r>
            <a:r>
              <a:rPr lang="en-US" dirty="0"/>
              <a:t> difference per team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1DFC69-7C58-9D9C-47FC-31A4C85B4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444401"/>
              </p:ext>
            </p:extLst>
          </p:nvPr>
        </p:nvGraphicFramePr>
        <p:xfrm>
          <a:off x="1" y="1415845"/>
          <a:ext cx="5906973" cy="4850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F6A1464-656C-0F45-029E-6D78D19950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1301232"/>
              </p:ext>
            </p:extLst>
          </p:nvPr>
        </p:nvGraphicFramePr>
        <p:xfrm>
          <a:off x="6096000" y="1415844"/>
          <a:ext cx="6007509" cy="4850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2357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2162D-8251-4AC7-3FDD-C9E626FC0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142" y="297955"/>
            <a:ext cx="10081846" cy="732186"/>
          </a:xfrm>
        </p:spPr>
        <p:txBody>
          <a:bodyPr anchor="b">
            <a:normAutofit/>
          </a:bodyPr>
          <a:lstStyle/>
          <a:p>
            <a:r>
              <a:rPr lang="en-US" dirty="0"/>
              <a:t>Business Intelligence Dashboard (Power BI)</a:t>
            </a:r>
          </a:p>
        </p:txBody>
      </p:sp>
      <p:pic>
        <p:nvPicPr>
          <p:cNvPr id="8" name="Graphic 7" descr="Pie chart">
            <a:extLst>
              <a:ext uri="{FF2B5EF4-FFF2-40B4-BE49-F238E27FC236}">
                <a16:creationId xmlns:a16="http://schemas.microsoft.com/office/drawing/2014/main" id="{723D42AC-98F4-AA4F-FDD7-F08D28609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3900" y="1338152"/>
            <a:ext cx="4681506" cy="4681506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40CC4F9-2630-3663-415D-3EDEAAD37A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7606" y="1338152"/>
            <a:ext cx="6822831" cy="4855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Power BI phase focused on transforming data into an interactive visual story.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developed a professional interface that allows for easy navigation of complex stats.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Users can use interactive slicers to filter the data by team, season, or specific venue.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dashboard features dedicated pages for tracking team form and head-to-head comparisons.</a:t>
            </a:r>
            <a:endParaRPr kumimoji="0" lang="bs-Latn-BA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All engineered features were integrated to provide a deep-dive into Premier League performance.</a:t>
            </a:r>
          </a:p>
        </p:txBody>
      </p:sp>
    </p:spTree>
    <p:extLst>
      <p:ext uri="{BB962C8B-B14F-4D97-AF65-F5344CB8AC3E}">
        <p14:creationId xmlns:p14="http://schemas.microsoft.com/office/powerpoint/2010/main" val="2431631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6347A-3AF5-A1C3-BB1B-667F49FC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18" y="159244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Representation of a table</a:t>
            </a:r>
          </a:p>
        </p:txBody>
      </p:sp>
      <p:pic>
        <p:nvPicPr>
          <p:cNvPr id="5" name="Content Placeholder 4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4F190D9E-C755-B46D-F64E-D4706987D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770" y="1224560"/>
            <a:ext cx="9119207" cy="512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46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3A1B3-DBCA-A67E-0202-B9206DF1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154" y="198691"/>
            <a:ext cx="5577902" cy="903749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8" name="Graphic 7" descr="Magnifying glass">
            <a:extLst>
              <a:ext uri="{FF2B5EF4-FFF2-40B4-BE49-F238E27FC236}">
                <a16:creationId xmlns:a16="http://schemas.microsoft.com/office/drawing/2014/main" id="{B705CB9D-C48A-5DA7-C8B9-B21AAC802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1102440"/>
            <a:ext cx="4681506" cy="468150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1D36D72-D9E9-D94B-6C46-0353F5A49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4238" y="1608339"/>
            <a:ext cx="6291897" cy="46815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Thorough data cleaning and normalization served as the critical foundation for the project.</a:t>
            </a:r>
            <a:endParaRPr kumimoji="0" lang="bs-Latn-BA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predictive model reached a 65.06% accuracy rate, proving to be a reliable forecasting tool (without advanced tools or ML).</a:t>
            </a:r>
            <a:endParaRPr kumimoji="0" lang="bs-Latn-BA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Technical metrics like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Shots on Target were identified as the strongest indicators of success.</a:t>
            </a:r>
            <a:endParaRPr kumimoji="0" lang="bs-Latn-BA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successfully created a BI solution that combines historical insights with future predictions.</a:t>
            </a:r>
            <a:endParaRPr kumimoji="0" lang="bs-Latn-BA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92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77E20-E094-8756-72FD-A5631F1F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07" y="548643"/>
            <a:ext cx="6424690" cy="36357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Thank you for your attention</a:t>
            </a:r>
            <a:br>
              <a:rPr lang="en-US" sz="6000" dirty="0"/>
            </a:br>
            <a:br>
              <a:rPr lang="en-US" sz="6000" dirty="0"/>
            </a:br>
            <a:r>
              <a:rPr lang="en-US" sz="6000"/>
              <a:t>Any</a:t>
            </a:r>
            <a:r>
              <a:rPr lang="en-US" sz="6000" dirty="0"/>
              <a:t> questions?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76882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633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Neue Haas Grotesk Text Pro</vt:lpstr>
      <vt:lpstr>VanillaVTI</vt:lpstr>
      <vt:lpstr>Premier League Data Analysis &amp; Prediction</vt:lpstr>
      <vt:lpstr>Introduction:</vt:lpstr>
      <vt:lpstr>Predictive Modeling (Python) – Case 1</vt:lpstr>
      <vt:lpstr>Python output example – Case 1:</vt:lpstr>
      <vt:lpstr>Train/Test Modeling (Python) – Case 2</vt:lpstr>
      <vt:lpstr>Python output example – Case 2:</vt:lpstr>
      <vt:lpstr>Descriptive Analysis (Excel)</vt:lpstr>
      <vt:lpstr>Win average per team</vt:lpstr>
      <vt:lpstr>Average goals per team &amp; Goals for xg difference per team</vt:lpstr>
      <vt:lpstr>Business Intelligence Dashboard (Power BI)</vt:lpstr>
      <vt:lpstr>Representation of a table</vt:lpstr>
      <vt:lpstr>Conclusion</vt:lpstr>
      <vt:lpstr>Thank you for your attention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Faris Balic (fbalic@student.ius.edu.ba)</dc:creator>
  <cp:lastModifiedBy>Vedad Kruho (vkruho@student.ius.edu.ba)</cp:lastModifiedBy>
  <cp:revision>3</cp:revision>
  <dcterms:created xsi:type="dcterms:W3CDTF">2026-01-04T12:02:49Z</dcterms:created>
  <dcterms:modified xsi:type="dcterms:W3CDTF">2026-01-04T14:01:04Z</dcterms:modified>
</cp:coreProperties>
</file>